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A70"/>
    <a:srgbClr val="DC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9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E8-4ACC-BBBA-1462A1266B65}"/>
              </c:ext>
            </c:extLst>
          </c:dPt>
          <c:dPt>
            <c:idx val="1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E8-4ACC-BBBA-1462A1266B65}"/>
              </c:ext>
            </c:extLst>
          </c:dPt>
          <c:cat>
            <c:strRef>
              <c:f>Sheet1!$A$2:$A$3</c:f>
              <c:strCache>
                <c:ptCount val="2"/>
                <c:pt idx="0">
                  <c:v>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93.22</c:v>
                </c:pt>
                <c:pt idx="1">
                  <c:v>6.77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0E8-4ACC-BBBA-1462A1266B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Distribution of Delay Length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03D-4961-9897-37657A4D8A23}"/>
              </c:ext>
            </c:extLst>
          </c:dPt>
          <c:dPt>
            <c:idx val="1"/>
            <c:invertIfNegative val="0"/>
            <c:bubble3D val="0"/>
            <c:spPr>
              <a:solidFill>
                <a:srgbClr val="FCD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3D-4961-9897-37657A4D8A23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03D-4961-9897-37657A4D8A23}"/>
              </c:ext>
            </c:extLst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03D-4961-9897-37657A4D8A23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F2A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&lt; 1 Week</c:v>
                </c:pt>
                <c:pt idx="1">
                  <c:v>1 Week–1 Month</c:v>
                </c:pt>
                <c:pt idx="2">
                  <c:v>1–3 Months</c:v>
                </c:pt>
                <c:pt idx="3">
                  <c:v>&gt; 3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48.81</c:v>
                </c:pt>
                <c:pt idx="1">
                  <c:v>45.68</c:v>
                </c:pt>
                <c:pt idx="2">
                  <c:v>4.79</c:v>
                </c:pt>
                <c:pt idx="3">
                  <c:v>0.72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03D-4961-9897-37657A4D8A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Late Delivery Rate by Month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ln w="34925" cap="flat">
              <a:solidFill>
                <a:srgbClr val="274A7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2.9</c:v>
                </c:pt>
                <c:pt idx="1">
                  <c:v>2.9</c:v>
                </c:pt>
                <c:pt idx="2">
                  <c:v>4.5999999999999996</c:v>
                </c:pt>
                <c:pt idx="3">
                  <c:v>6.6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2.9</c:v>
                </c:pt>
                <c:pt idx="8">
                  <c:v>4.4000000000000004</c:v>
                </c:pt>
                <c:pt idx="9">
                  <c:v>4.2</c:v>
                </c:pt>
                <c:pt idx="10">
                  <c:v>12.5</c:v>
                </c:pt>
                <c:pt idx="11">
                  <c:v>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22-4633-85AA-E19BA68392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</c:v>
                </c:pt>
              </c:strCache>
            </c:strRef>
          </c:tx>
          <c:spPr>
            <a:ln w="34925" cap="flat">
              <a:solidFill>
                <a:srgbClr val="DC262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5.7</c:v>
                </c:pt>
                <c:pt idx="1">
                  <c:v>14.1</c:v>
                </c:pt>
                <c:pt idx="2">
                  <c:v>19</c:v>
                </c:pt>
                <c:pt idx="3">
                  <c:v>4.5</c:v>
                </c:pt>
                <c:pt idx="4">
                  <c:v>6.6</c:v>
                </c:pt>
                <c:pt idx="5">
                  <c:v>1.2</c:v>
                </c:pt>
                <c:pt idx="6">
                  <c:v>3.4</c:v>
                </c:pt>
                <c:pt idx="7">
                  <c:v>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422-4633-85AA-E19BA68392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Monthly Order Volume vs Late Rate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xVal>
            <c:numRef>
              <c:f>Sheet1!$A$2:$A$21</c:f>
              <c:numCache>
                <c:formatCode>General</c:formatCode>
                <c:ptCount val="20"/>
                <c:pt idx="0">
                  <c:v>750</c:v>
                </c:pt>
                <c:pt idx="1">
                  <c:v>1650</c:v>
                </c:pt>
                <c:pt idx="2">
                  <c:v>2300</c:v>
                </c:pt>
                <c:pt idx="3">
                  <c:v>2540</c:v>
                </c:pt>
                <c:pt idx="4">
                  <c:v>3140</c:v>
                </c:pt>
                <c:pt idx="5">
                  <c:v>3530</c:v>
                </c:pt>
                <c:pt idx="6">
                  <c:v>3870</c:v>
                </c:pt>
                <c:pt idx="7">
                  <c:v>4150</c:v>
                </c:pt>
                <c:pt idx="8">
                  <c:v>4200</c:v>
                </c:pt>
                <c:pt idx="9">
                  <c:v>4470</c:v>
                </c:pt>
                <c:pt idx="10">
                  <c:v>5500</c:v>
                </c:pt>
                <c:pt idx="11">
                  <c:v>6080</c:v>
                </c:pt>
                <c:pt idx="12">
                  <c:v>6150</c:v>
                </c:pt>
                <c:pt idx="13">
                  <c:v>6330</c:v>
                </c:pt>
                <c:pt idx="14">
                  <c:v>6550</c:v>
                </c:pt>
                <c:pt idx="15">
                  <c:v>6730</c:v>
                </c:pt>
                <c:pt idx="16">
                  <c:v>6790</c:v>
                </c:pt>
                <c:pt idx="17">
                  <c:v>7000</c:v>
                </c:pt>
                <c:pt idx="18">
                  <c:v>7080</c:v>
                </c:pt>
                <c:pt idx="19">
                  <c:v>7280</c:v>
                </c:pt>
              </c:numCache>
            </c:numRef>
          </c:xVal>
          <c:yVal>
            <c:numRef>
              <c:f>Sheet1!$B$2:$B$21</c:f>
              <c:numCache>
                <c:formatCode>General</c:formatCode>
                <c:ptCount val="20"/>
                <c:pt idx="0">
                  <c:v>2.9</c:v>
                </c:pt>
                <c:pt idx="1">
                  <c:v>2.9</c:v>
                </c:pt>
                <c:pt idx="2">
                  <c:v>6.6</c:v>
                </c:pt>
                <c:pt idx="3">
                  <c:v>4.5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4.4000000000000004</c:v>
                </c:pt>
                <c:pt idx="8">
                  <c:v>2.9</c:v>
                </c:pt>
                <c:pt idx="9">
                  <c:v>4.2</c:v>
                </c:pt>
                <c:pt idx="10">
                  <c:v>7.5</c:v>
                </c:pt>
                <c:pt idx="11">
                  <c:v>1.2</c:v>
                </c:pt>
                <c:pt idx="12">
                  <c:v>3.4</c:v>
                </c:pt>
                <c:pt idx="13">
                  <c:v>6.2</c:v>
                </c:pt>
                <c:pt idx="14">
                  <c:v>14.1</c:v>
                </c:pt>
                <c:pt idx="15">
                  <c:v>6.6</c:v>
                </c:pt>
                <c:pt idx="16">
                  <c:v>4.5</c:v>
                </c:pt>
                <c:pt idx="17">
                  <c:v>19</c:v>
                </c:pt>
                <c:pt idx="18">
                  <c:v>5.7</c:v>
                </c:pt>
                <c:pt idx="19">
                  <c:v>12.5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F43-4D03-922A-35E9EFD98F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Delivery Rate by State — Top 20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1F3-490A-98D4-42D38AE336EE}"/>
              </c:ext>
            </c:extLst>
          </c:dPt>
          <c:cat>
            <c:strRef>
              <c:f>Sheet1!$A$2:$A$21</c:f>
              <c:strCache>
                <c:ptCount val="20"/>
                <c:pt idx="0">
                  <c:v>AL</c:v>
                </c:pt>
                <c:pt idx="1">
                  <c:v>MA</c:v>
                </c:pt>
                <c:pt idx="2">
                  <c:v>SE</c:v>
                </c:pt>
                <c:pt idx="3">
                  <c:v>PI</c:v>
                </c:pt>
                <c:pt idx="4">
                  <c:v>CE</c:v>
                </c:pt>
                <c:pt idx="5">
                  <c:v>RR</c:v>
                </c:pt>
                <c:pt idx="6">
                  <c:v>BA</c:v>
                </c:pt>
                <c:pt idx="7">
                  <c:v>RJ</c:v>
                </c:pt>
                <c:pt idx="8">
                  <c:v>PA</c:v>
                </c:pt>
                <c:pt idx="9">
                  <c:v>ES</c:v>
                </c:pt>
                <c:pt idx="10">
                  <c:v>PB</c:v>
                </c:pt>
                <c:pt idx="11">
                  <c:v>TO</c:v>
                </c:pt>
                <c:pt idx="12">
                  <c:v>MS</c:v>
                </c:pt>
                <c:pt idx="13">
                  <c:v>PE</c:v>
                </c:pt>
                <c:pt idx="14">
                  <c:v>RN</c:v>
                </c:pt>
                <c:pt idx="15">
                  <c:v>SC</c:v>
                </c:pt>
                <c:pt idx="16">
                  <c:v>GO</c:v>
                </c:pt>
                <c:pt idx="17">
                  <c:v>RS</c:v>
                </c:pt>
                <c:pt idx="18">
                  <c:v>MT</c:v>
                </c:pt>
                <c:pt idx="19">
                  <c:v>DF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21.4</c:v>
                </c:pt>
                <c:pt idx="1">
                  <c:v>17.399999999999999</c:v>
                </c:pt>
                <c:pt idx="2">
                  <c:v>15.2</c:v>
                </c:pt>
                <c:pt idx="3">
                  <c:v>13.9</c:v>
                </c:pt>
                <c:pt idx="4">
                  <c:v>13.8</c:v>
                </c:pt>
                <c:pt idx="5">
                  <c:v>12.2</c:v>
                </c:pt>
                <c:pt idx="6">
                  <c:v>12.2</c:v>
                </c:pt>
                <c:pt idx="7">
                  <c:v>12.1</c:v>
                </c:pt>
                <c:pt idx="8">
                  <c:v>11.2</c:v>
                </c:pt>
                <c:pt idx="9">
                  <c:v>10.7</c:v>
                </c:pt>
                <c:pt idx="10">
                  <c:v>10.4</c:v>
                </c:pt>
                <c:pt idx="11">
                  <c:v>9.9</c:v>
                </c:pt>
                <c:pt idx="12">
                  <c:v>9.6999999999999993</c:v>
                </c:pt>
                <c:pt idx="13">
                  <c:v>9.6</c:v>
                </c:pt>
                <c:pt idx="14">
                  <c:v>9.3000000000000007</c:v>
                </c:pt>
                <c:pt idx="15">
                  <c:v>8.1999999999999993</c:v>
                </c:pt>
                <c:pt idx="16">
                  <c:v>6.6</c:v>
                </c:pt>
                <c:pt idx="17">
                  <c:v>6.1</c:v>
                </c:pt>
                <c:pt idx="18">
                  <c:v>6</c:v>
                </c:pt>
                <c:pt idx="19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F3-490A-98D4-42D38AE336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Rate by City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Resende</c:v>
                </c:pt>
                <c:pt idx="1">
                  <c:v>S. J. de Meriti</c:v>
                </c:pt>
                <c:pt idx="2">
                  <c:v>Macaé</c:v>
                </c:pt>
                <c:pt idx="3">
                  <c:v>Rio das Ostras</c:v>
                </c:pt>
                <c:pt idx="4">
                  <c:v>Nova Friburgo</c:v>
                </c:pt>
                <c:pt idx="5">
                  <c:v>Cabo Frio</c:v>
                </c:pt>
                <c:pt idx="6">
                  <c:v>Teresina</c:v>
                </c:pt>
                <c:pt idx="7">
                  <c:v>São Luís</c:v>
                </c:pt>
                <c:pt idx="8">
                  <c:v>São Gonçalo</c:v>
                </c:pt>
                <c:pt idx="9">
                  <c:v>Maceió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15.7</c:v>
                </c:pt>
                <c:pt idx="1">
                  <c:v>16.100000000000001</c:v>
                </c:pt>
                <c:pt idx="2">
                  <c:v>15.8</c:v>
                </c:pt>
                <c:pt idx="3">
                  <c:v>17.7</c:v>
                </c:pt>
                <c:pt idx="4">
                  <c:v>19.7</c:v>
                </c:pt>
                <c:pt idx="5">
                  <c:v>21.2</c:v>
                </c:pt>
                <c:pt idx="6">
                  <c:v>18.8</c:v>
                </c:pt>
                <c:pt idx="7">
                  <c:v>19.399999999999999</c:v>
                </c:pt>
                <c:pt idx="8">
                  <c:v>21.6</c:v>
                </c:pt>
                <c:pt idx="9">
                  <c:v>27.1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51-44FF-8FF1-1906460F49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Seller Order Volume vs Late Rate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 w="25400" cap="rnd">
              <a:noFill/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xVal>
            <c:numRef>
              <c:f>Sheet1!$A$2:$A$43</c:f>
              <c:numCache>
                <c:formatCode>General</c:formatCode>
                <c:ptCount val="42"/>
                <c:pt idx="0">
                  <c:v>95</c:v>
                </c:pt>
                <c:pt idx="1">
                  <c:v>100</c:v>
                </c:pt>
                <c:pt idx="2">
                  <c:v>110</c:v>
                </c:pt>
                <c:pt idx="3">
                  <c:v>120</c:v>
                </c:pt>
                <c:pt idx="4">
                  <c:v>130</c:v>
                </c:pt>
                <c:pt idx="5">
                  <c:v>140</c:v>
                </c:pt>
                <c:pt idx="6">
                  <c:v>150</c:v>
                </c:pt>
                <c:pt idx="7">
                  <c:v>160</c:v>
                </c:pt>
                <c:pt idx="8">
                  <c:v>170</c:v>
                </c:pt>
                <c:pt idx="9">
                  <c:v>180</c:v>
                </c:pt>
                <c:pt idx="10">
                  <c:v>190</c:v>
                </c:pt>
                <c:pt idx="11">
                  <c:v>200</c:v>
                </c:pt>
                <c:pt idx="12">
                  <c:v>210</c:v>
                </c:pt>
                <c:pt idx="13">
                  <c:v>220</c:v>
                </c:pt>
                <c:pt idx="14">
                  <c:v>230</c:v>
                </c:pt>
                <c:pt idx="15">
                  <c:v>240</c:v>
                </c:pt>
                <c:pt idx="16">
                  <c:v>260</c:v>
                </c:pt>
                <c:pt idx="17">
                  <c:v>280</c:v>
                </c:pt>
                <c:pt idx="18">
                  <c:v>300</c:v>
                </c:pt>
                <c:pt idx="19">
                  <c:v>320</c:v>
                </c:pt>
                <c:pt idx="20">
                  <c:v>340</c:v>
                </c:pt>
                <c:pt idx="21">
                  <c:v>380</c:v>
                </c:pt>
                <c:pt idx="22">
                  <c:v>400</c:v>
                </c:pt>
                <c:pt idx="23">
                  <c:v>420</c:v>
                </c:pt>
                <c:pt idx="24">
                  <c:v>460</c:v>
                </c:pt>
                <c:pt idx="25">
                  <c:v>510</c:v>
                </c:pt>
                <c:pt idx="26">
                  <c:v>560</c:v>
                </c:pt>
                <c:pt idx="27">
                  <c:v>600</c:v>
                </c:pt>
                <c:pt idx="28">
                  <c:v>650</c:v>
                </c:pt>
                <c:pt idx="29">
                  <c:v>700</c:v>
                </c:pt>
                <c:pt idx="30">
                  <c:v>900</c:v>
                </c:pt>
                <c:pt idx="31">
                  <c:v>950</c:v>
                </c:pt>
                <c:pt idx="32">
                  <c:v>1000</c:v>
                </c:pt>
                <c:pt idx="33">
                  <c:v>1070</c:v>
                </c:pt>
                <c:pt idx="34">
                  <c:v>1130</c:v>
                </c:pt>
                <c:pt idx="35">
                  <c:v>1140</c:v>
                </c:pt>
                <c:pt idx="36">
                  <c:v>1250</c:v>
                </c:pt>
                <c:pt idx="37">
                  <c:v>1310</c:v>
                </c:pt>
                <c:pt idx="38">
                  <c:v>1390</c:v>
                </c:pt>
                <c:pt idx="39">
                  <c:v>1650</c:v>
                </c:pt>
                <c:pt idx="40">
                  <c:v>1770</c:v>
                </c:pt>
                <c:pt idx="41">
                  <c:v>1820</c:v>
                </c:pt>
              </c:numCache>
            </c:numRef>
          </c:xVal>
          <c:yVal>
            <c:numRef>
              <c:f>Sheet1!$B$2:$B$43</c:f>
              <c:numCache>
                <c:formatCode>General</c:formatCode>
                <c:ptCount val="42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7</c:v>
                </c:pt>
                <c:pt idx="5">
                  <c:v>9</c:v>
                </c:pt>
                <c:pt idx="6">
                  <c:v>11</c:v>
                </c:pt>
                <c:pt idx="7">
                  <c:v>12</c:v>
                </c:pt>
                <c:pt idx="8">
                  <c:v>5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  <c:pt idx="12">
                  <c:v>8</c:v>
                </c:pt>
                <c:pt idx="13">
                  <c:v>13</c:v>
                </c:pt>
                <c:pt idx="14">
                  <c:v>17</c:v>
                </c:pt>
                <c:pt idx="15">
                  <c:v>16</c:v>
                </c:pt>
                <c:pt idx="16">
                  <c:v>6</c:v>
                </c:pt>
                <c:pt idx="17">
                  <c:v>5</c:v>
                </c:pt>
                <c:pt idx="18">
                  <c:v>9</c:v>
                </c:pt>
                <c:pt idx="19">
                  <c:v>3</c:v>
                </c:pt>
                <c:pt idx="20">
                  <c:v>14</c:v>
                </c:pt>
                <c:pt idx="21">
                  <c:v>19</c:v>
                </c:pt>
                <c:pt idx="22">
                  <c:v>8</c:v>
                </c:pt>
                <c:pt idx="23">
                  <c:v>4</c:v>
                </c:pt>
                <c:pt idx="24">
                  <c:v>13</c:v>
                </c:pt>
                <c:pt idx="25">
                  <c:v>12</c:v>
                </c:pt>
                <c:pt idx="26">
                  <c:v>2</c:v>
                </c:pt>
                <c:pt idx="27">
                  <c:v>9</c:v>
                </c:pt>
                <c:pt idx="28">
                  <c:v>11</c:v>
                </c:pt>
                <c:pt idx="29">
                  <c:v>5</c:v>
                </c:pt>
                <c:pt idx="30">
                  <c:v>8</c:v>
                </c:pt>
                <c:pt idx="31">
                  <c:v>9</c:v>
                </c:pt>
                <c:pt idx="32">
                  <c:v>5</c:v>
                </c:pt>
                <c:pt idx="33">
                  <c:v>5</c:v>
                </c:pt>
                <c:pt idx="34">
                  <c:v>10.5</c:v>
                </c:pt>
                <c:pt idx="35">
                  <c:v>8</c:v>
                </c:pt>
                <c:pt idx="36">
                  <c:v>6</c:v>
                </c:pt>
                <c:pt idx="37">
                  <c:v>7</c:v>
                </c:pt>
                <c:pt idx="38">
                  <c:v>8.8000000000000007</c:v>
                </c:pt>
                <c:pt idx="39">
                  <c:v>5.3</c:v>
                </c:pt>
                <c:pt idx="40">
                  <c:v>9.6999999999999993</c:v>
                </c:pt>
                <c:pt idx="41">
                  <c:v>5.3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140-44D6-9D07-3FEB14EAFF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% of Late Orders Affected, by Stage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 Affected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Seller Fulfillment</c:v>
                </c:pt>
                <c:pt idx="1">
                  <c:v>Processing</c:v>
                </c:pt>
                <c:pt idx="2">
                  <c:v>Shipping (Carrier)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20.2</c:v>
                </c:pt>
                <c:pt idx="1">
                  <c:v>21</c:v>
                </c:pt>
                <c:pt idx="2">
                  <c:v>90.2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C2-4EC1-9097-C5AE7D00F4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Shipping Time by State (Days, Carrier → Customer)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Shipping Days</c:v>
                </c:pt>
              </c:strCache>
            </c:strRef>
          </c:tx>
          <c:spPr>
            <a:solidFill>
              <a:srgbClr val="274A7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Sheet1!$A$2:$A$26</c:f>
              <c:strCache>
                <c:ptCount val="25"/>
                <c:pt idx="0">
                  <c:v>RR</c:v>
                </c:pt>
                <c:pt idx="1">
                  <c:v>AP</c:v>
                </c:pt>
                <c:pt idx="2">
                  <c:v>AM</c:v>
                </c:pt>
                <c:pt idx="3">
                  <c:v>AL</c:v>
                </c:pt>
                <c:pt idx="4">
                  <c:v>PA</c:v>
                </c:pt>
                <c:pt idx="5">
                  <c:v>MA</c:v>
                </c:pt>
                <c:pt idx="6">
                  <c:v>SE</c:v>
                </c:pt>
                <c:pt idx="7">
                  <c:v>CE</c:v>
                </c:pt>
                <c:pt idx="8">
                  <c:v>AC</c:v>
                </c:pt>
                <c:pt idx="9">
                  <c:v>PB</c:v>
                </c:pt>
                <c:pt idx="10">
                  <c:v>RO</c:v>
                </c:pt>
                <c:pt idx="11">
                  <c:v>PI</c:v>
                </c:pt>
                <c:pt idx="12">
                  <c:v>BA</c:v>
                </c:pt>
                <c:pt idx="13">
                  <c:v>RN</c:v>
                </c:pt>
                <c:pt idx="14">
                  <c:v>PE</c:v>
                </c:pt>
                <c:pt idx="15">
                  <c:v>MT</c:v>
                </c:pt>
                <c:pt idx="16">
                  <c:v>GO</c:v>
                </c:pt>
                <c:pt idx="17">
                  <c:v>ES</c:v>
                </c:pt>
                <c:pt idx="18">
                  <c:v>RS</c:v>
                </c:pt>
                <c:pt idx="19">
                  <c:v>RJ</c:v>
                </c:pt>
                <c:pt idx="20">
                  <c:v>SC</c:v>
                </c:pt>
                <c:pt idx="21">
                  <c:v>DF</c:v>
                </c:pt>
                <c:pt idx="22">
                  <c:v>MG</c:v>
                </c:pt>
                <c:pt idx="23">
                  <c:v>PR</c:v>
                </c:pt>
                <c:pt idx="24">
                  <c:v>SP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25.2</c:v>
                </c:pt>
                <c:pt idx="1">
                  <c:v>23.2</c:v>
                </c:pt>
                <c:pt idx="2">
                  <c:v>23.1</c:v>
                </c:pt>
                <c:pt idx="3">
                  <c:v>20.6</c:v>
                </c:pt>
                <c:pt idx="4">
                  <c:v>19.899999999999999</c:v>
                </c:pt>
                <c:pt idx="5">
                  <c:v>17.5</c:v>
                </c:pt>
                <c:pt idx="6">
                  <c:v>17.399999999999999</c:v>
                </c:pt>
                <c:pt idx="7">
                  <c:v>17.3</c:v>
                </c:pt>
                <c:pt idx="8">
                  <c:v>17.100000000000001</c:v>
                </c:pt>
                <c:pt idx="9">
                  <c:v>15.4</c:v>
                </c:pt>
                <c:pt idx="10">
                  <c:v>16</c:v>
                </c:pt>
                <c:pt idx="11">
                  <c:v>15.7</c:v>
                </c:pt>
                <c:pt idx="12">
                  <c:v>15.4</c:v>
                </c:pt>
                <c:pt idx="13">
                  <c:v>15.2</c:v>
                </c:pt>
                <c:pt idx="14">
                  <c:v>14.6</c:v>
                </c:pt>
                <c:pt idx="15">
                  <c:v>14.3</c:v>
                </c:pt>
                <c:pt idx="16">
                  <c:v>13.6</c:v>
                </c:pt>
                <c:pt idx="17">
                  <c:v>12</c:v>
                </c:pt>
                <c:pt idx="18">
                  <c:v>11.6</c:v>
                </c:pt>
                <c:pt idx="19">
                  <c:v>11.5</c:v>
                </c:pt>
                <c:pt idx="20">
                  <c:v>11.1</c:v>
                </c:pt>
                <c:pt idx="21">
                  <c:v>9.3000000000000007</c:v>
                </c:pt>
                <c:pt idx="22">
                  <c:v>8.1999999999999993</c:v>
                </c:pt>
                <c:pt idx="23">
                  <c:v>8.1999999999999993</c:v>
                </c:pt>
                <c:pt idx="24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95-4425-8F79-F373A7337C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Average Customer Rating (out of 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Review Score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014-4CB4-B605-CD41C3ABB2FD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014-4CB4-B605-CD41C3ABB2F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F2A47"/>
                    </a:solidFill>
                    <a:latin typeface="Cambria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Early / 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4.29</c:v>
                </c:pt>
                <c:pt idx="1">
                  <c:v>2.27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014-4CB4-B605-CD41C3ABB2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307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 ·  OLIST BRAZILIAN E-COMMERCE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Performance</a:t>
            </a:r>
            <a:endParaRPr lang="en-US" sz="5200" dirty="0"/>
          </a:p>
        </p:txBody>
      </p:sp>
      <p:sp>
        <p:nvSpPr>
          <p:cNvPr id="39" name="Text 37"/>
          <p:cNvSpPr/>
          <p:nvPr/>
        </p:nvSpPr>
        <p:spPr>
          <a:xfrm>
            <a:off x="530352" y="2542032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SLA Analysis</a:t>
            </a:r>
            <a:endParaRPr lang="en-US" sz="5200" dirty="0"/>
          </a:p>
        </p:txBody>
      </p:sp>
      <p:sp>
        <p:nvSpPr>
          <p:cNvPr id="40" name="Text 38"/>
          <p:cNvSpPr/>
          <p:nvPr/>
        </p:nvSpPr>
        <p:spPr>
          <a:xfrm>
            <a:off x="548640" y="3520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meeting our delivery SLAs, and how does delivery performance impact customer satisfaction and business outcomes?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0" y="46177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8640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48640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13232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13232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Orders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19272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19272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483864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93.2%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3483864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89904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089904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254496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6254496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860536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860536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025128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vs 2.3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9025128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Satisfaction: On-Time vs Late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en-US" sz="1050" b="1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oussef Mohamed </a:t>
            </a:r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Brazilian E-Commerce Dataset (Olist), 2017–2018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512064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98448" y="156362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 &amp; KPIs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184708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vs late delivery rates, and the severity of delays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98448" y="223113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98448" y="25146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and yearly trends in late delivery performance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98448" y="289864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98448" y="3182112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and cities suffer the worst delays — and why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47872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35661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3849624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seller scale or reliability affect delivery speed?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1538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98448" y="423367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98448" y="45171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exactly in the order journey delays originate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882896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298448" y="490118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98448" y="518464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delays translate directly into lost trust and reviews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5040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298448" y="556869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298448" y="585216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Strategic, data-backed actions to fix the SLA gap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We Meeting Our Delivery Promise?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96,470 Delivered Orders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141732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On-Time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68680" y="507492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15568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 — 89,936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5367528"/>
            <a:ext cx="146304" cy="146304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15568" y="5303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 — 6,534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532120" y="132588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532120" y="1325880"/>
            <a:ext cx="64008" cy="8412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33288" y="141732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5733288" y="184745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 — meets baseline service expectation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32120" y="228600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532120" y="2286000"/>
            <a:ext cx="64008" cy="8412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733288" y="237744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5733288" y="280757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Rate — the core risk this report investigates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532120" y="324612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532120" y="3246120"/>
            <a:ext cx="64008" cy="841248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733288" y="333756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733288" y="376769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 Orders analyzed (Jan 2017 – Aug 2018)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532120" y="4343400"/>
            <a:ext cx="612648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532120" y="434340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760720" y="4453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760720" y="4727448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93.22% of orders arrive on time — a healthy baseline. But the remaining 6.77% (6,534 orders) is not a rounding error: it represents thousands of customers experiencing a broken promise, and — as the next sections show — a measurable, severe hit to satisfaction and trust.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Orders Are Late, How Late Are They?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Severity Breakdown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452360" y="1371600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452360" y="1371600"/>
            <a:ext cx="64008" cy="10515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653528" y="1463040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94.49%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653528" y="2023567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are minor — under one month. The network is functional but inconsistent.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42032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452360" y="2542032"/>
            <a:ext cx="64008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653528" y="2633472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653528" y="3193999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month) — critical SLA breaches with high refund/complaint risk.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30752"/>
            <a:ext cx="4206240" cy="1874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64008" cy="18745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80960" y="38404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80960" y="41148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problem is not the size of the delay — it's that a delay happens at all. 94.49% of late orders recover within a month, but the 5.51% severe tail (avg. 43–129 days late) is enough to trigger churn, refunds, and reputational damage disproportionate to its volume.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 Performance Is Deteriorating Over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vs 2018 Monthly Trend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7315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183880" y="1280160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183880" y="128016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385048" y="1371600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385048" y="1818742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late rate — March 2018, the worst month on record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83880" y="2212848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183880" y="2212848"/>
            <a:ext cx="64008" cy="8686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385048" y="2304288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12.5%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385048" y="2751430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peak — November 2017 (holiday season surge)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83880" y="3145536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8183880" y="3145536"/>
            <a:ext cx="64008" cy="868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85048" y="3236976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~1.2%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385048" y="3684118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month — June 2018, proving the network can perform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183880" y="4078224"/>
            <a:ext cx="3520440" cy="1682496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8183880" y="4078224"/>
            <a:ext cx="64008" cy="168249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412480" y="41879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412480" y="4462272"/>
            <a:ext cx="30632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rates worsened year-over-year — March 2018's 19% peak far exceeds Nov 2017's 12.5% — the logistics network failed to scale with order growth, risking loyalty during Olist's most critical growth phase.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Growth the Problem? No — Geography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68580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325880"/>
            <a:ext cx="4023360" cy="23317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0956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SCATTER SHOWS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09560" y="18288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correlation between order volume and late rate.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the highest-volume months (7,000+ orders) sit both at the lowest and the highest late rates.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rules out “we grew too fast” as the root cause.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680960" y="3840480"/>
            <a:ext cx="4023360" cy="192024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7680960" y="3840480"/>
            <a:ext cx="64008" cy="1920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909560" y="3950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909560" y="422452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order volume does NOT directly cause higher late rates — the correlation is weak. This confirms the bottleneck is structural (geographic and carrier-related), not a capacity problem. Scaling sellers and warehouses alone will not fix the SLA gap.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Northern &amp; Northeastern States Are Struggling Most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44730161"/>
              </p:ext>
            </p:extLst>
          </p:nvPr>
        </p:nvGraphicFramePr>
        <p:xfrm>
          <a:off x="502920" y="1325880"/>
          <a:ext cx="77724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549640" y="132588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549640" y="1325880"/>
            <a:ext cx="64008" cy="9601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750808" y="141732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750808" y="192115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(AL) — the single worst-performing state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37744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549640" y="2377440"/>
            <a:ext cx="64008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750808" y="246888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~2.8%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750808" y="297271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Amazonas (AM) — among the best, despite remoteness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29000"/>
            <a:ext cx="3154680" cy="23317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8549640" y="3429000"/>
            <a:ext cx="64008" cy="23317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778240" y="35387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78240" y="3813048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worst-performing states (AL, MA, SE, PI, CE) are concentrated in Brazil's Northeast — far from the São Paulo seller hub. This is a geographic pattern, not a random one, and it points to a structural carrier and infrastructure gap rather than scattered local failures.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Cities With the Worst Delivery Record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Cities — Late Rate %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88197947"/>
              </p:ext>
            </p:extLst>
          </p:nvPr>
        </p:nvGraphicFramePr>
        <p:xfrm>
          <a:off x="502920" y="1325880"/>
          <a:ext cx="63093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086600" y="132588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086600" y="1325880"/>
            <a:ext cx="64008" cy="914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287768" y="141732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27.1%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87768" y="189280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Maceió — highest late rate of any city (64 of 236 orders late)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86600" y="233172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086600" y="2331720"/>
            <a:ext cx="64008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287768" y="242316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21.6%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287768" y="289864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Gonçalo — 2nd worst, also the highest late order count (83)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86600" y="3337560"/>
            <a:ext cx="4617720" cy="246888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086600" y="3337560"/>
            <a:ext cx="64008" cy="24688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15200" y="344728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3721608"/>
            <a:ext cx="4160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data confirms the state-level pattern: Maceió, São Gonçalo, and São Luís — all far from São Paulo — dominate the worst-performers list. Fixing this requires regional distribution centers in the Northeast, not seller-level or city-by-city interventions.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Bigger Sellers More Reliable?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220034472"/>
              </p:ext>
            </p:extLst>
          </p:nvPr>
        </p:nvGraphicFramePr>
        <p:xfrm>
          <a:off x="502920" y="132588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25880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726680" y="132588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27848" y="1399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27848" y="167335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1,000 orders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27848" y="1892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10%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464040" y="194767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Reliable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6680" y="2350008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726680" y="2350008"/>
            <a:ext cx="64008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927848" y="24231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927848" y="26974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– 1,000 orders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927848" y="2916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14%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64040" y="29718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726680" y="3374136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7726680" y="3374136"/>
            <a:ext cx="64008" cy="914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927848" y="3447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27848" y="372160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 orders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27848" y="3941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19%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464040" y="39959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726680" y="4443984"/>
            <a:ext cx="3977640" cy="1508760"/>
          </a:xfrm>
          <a:prstGeom prst="rect">
            <a:avLst/>
          </a:prstGeom>
          <a:solidFill>
            <a:srgbClr val="E7F6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726680" y="4443984"/>
            <a:ext cx="64008" cy="1508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955280" y="45537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55280" y="4828032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 are significantly more reliable, suggesting scale correlates with better logistics coordination. But even the best sellers are subject to carrier delays — seller performance alone doesn't determine on-time delivery.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Exactly Does the Delay Happen?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Journey Stage 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82880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build/icons/invoi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365" y="1839773"/>
            <a:ext cx="380390" cy="3803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292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→ Approval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 days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7724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7724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724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 days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7724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+0.07d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20624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53212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/home/claude/build/icons/warehous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685" y="1839773"/>
            <a:ext cx="380390" cy="38039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2062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Seller Fulfillment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420624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→ Carrier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8056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48056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−4.06 days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448056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448056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48056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−0.95 days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448056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+3.11d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7909560" y="1371600"/>
            <a:ext cx="3383280" cy="4160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9"/>
          <p:cNvSpPr/>
          <p:nvPr/>
        </p:nvSpPr>
        <p:spPr>
          <a:xfrm>
            <a:off x="7909560" y="1371600"/>
            <a:ext cx="3383280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9235440" y="16642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2" descr="/home/claude/build/icons/shipfas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005" y="1839773"/>
            <a:ext cx="380390" cy="38039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790956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790956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→ Customer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818388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818388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7.51 days</a:t>
            </a:r>
            <a:endParaRPr lang="en-US" sz="1700" dirty="0"/>
          </a:p>
        </p:txBody>
      </p:sp>
      <p:sp>
        <p:nvSpPr>
          <p:cNvPr id="40" name="Shape 35"/>
          <p:cNvSpPr/>
          <p:nvPr/>
        </p:nvSpPr>
        <p:spPr>
          <a:xfrm>
            <a:off x="818388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818388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42" name="Text 37"/>
          <p:cNvSpPr/>
          <p:nvPr/>
        </p:nvSpPr>
        <p:spPr>
          <a:xfrm>
            <a:off x="818388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27.38 days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818388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+19.87d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BOTTLENECK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of Delays Trace Back to the Carrier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Attribution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56880003"/>
              </p:ext>
            </p:extLst>
          </p:nvPr>
        </p:nvGraphicFramePr>
        <p:xfrm>
          <a:off x="502920" y="1371600"/>
          <a:ext cx="61264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371600"/>
            <a:ext cx="470916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995160" y="1371600"/>
            <a:ext cx="64008" cy="10972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196328" y="1463040"/>
            <a:ext cx="4343400" cy="6364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2051914"/>
            <a:ext cx="43434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late orders involve a shipping/carrier delay — the dominant root cause by far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95160" y="2606040"/>
            <a:ext cx="47091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223760" y="27432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Note on attribution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223760" y="301752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don't sum to 100% — a single late order can have delays across multiple stages simultaneously. Processing (21.0%) and seller fulfillment (20.2%) show secondary, overlapping effects.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995160" y="4023360"/>
            <a:ext cx="470916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995160" y="402336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223760" y="413308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223760" y="4407408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seller preparation or order processing — it's logistics infrastructure for long-distance carrier routes, particularly to northern Brazil. Fixing carrier performance is the single highest-leverage lever available.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From São Paulo Drives Shipping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Shipping Time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095882330"/>
              </p:ext>
            </p:extLst>
          </p:nvPr>
        </p:nvGraphicFramePr>
        <p:xfrm>
          <a:off x="502920" y="1280160"/>
          <a:ext cx="877824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9555480" y="12801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555480" y="1280160"/>
            <a:ext cx="64008" cy="12801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756648" y="13716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9756648" y="20738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Roraima (RR), the slowest state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555480" y="26517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555480" y="2651760"/>
            <a:ext cx="64008" cy="1280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756648" y="27432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756648" y="34454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São Paulo (SP), home of most sellers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02920" y="5532120"/>
            <a:ext cx="64008" cy="7772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1520" y="5641848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ROOT CAUSE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5916168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RR, AP, AM, AL, and PA average 19–25 days of shipping time — 4–5x slower than SP's 5.1 days. The problem isn't carriers in general; it's the long-distance logistics gap to remote northern states.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Delays Don't Just Cost Time — They Cost Trust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Score: On-Time vs Late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52120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371600"/>
            <a:ext cx="566928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309360" y="1536192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home/claude/build/icons/smi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0061" y="165689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4944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4.29 / 5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94944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94944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89,443 reviews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869680" y="1481328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189720" y="1536192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build/icons/fro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0421" y="1656893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2980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 / 5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982980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98298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6,381 reviews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035040" y="2971800"/>
            <a:ext cx="566928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035040" y="297180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6236208" y="3063240"/>
            <a:ext cx="530352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700" dirty="0"/>
          </a:p>
        </p:txBody>
      </p:sp>
      <p:sp>
        <p:nvSpPr>
          <p:cNvPr id="22" name="Text 17"/>
          <p:cNvSpPr/>
          <p:nvPr/>
        </p:nvSpPr>
        <p:spPr>
          <a:xfrm>
            <a:off x="6236208" y="3510382"/>
            <a:ext cx="53035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customer satisfaction caused directly by late delivery (4.29 → 2.27)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035040" y="3977640"/>
            <a:ext cx="5669280" cy="16459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035040" y="3977640"/>
            <a:ext cx="64008" cy="16459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263640" y="40873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263640" y="436168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minor inconvenience — it's a strategic business threat. Sample sizes are statistically robust (89,443 vs 6,381 reviews). Every 1% reduction in the late delivery rate protects approximately 965 customers from a poor experience and the churn risk that follows.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Findings That Define the SLA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Summary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orders are delivered late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6,534 customers at risk of churn per period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46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originate in carrier shipping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01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infrastructure is the core problem — not sellers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2944368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21%+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286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in Northern states (AL, MA, SE)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inequality is damaging brand trust in key markets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17920" y="2944368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46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001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drop on late orders (4.29 → 2.27)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01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Threatens repeat purchase rates and platform reputation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4562856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2286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 delay)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SLA breaches carry high refund/complaint risk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217920" y="4562856"/>
            <a:ext cx="64008" cy="14813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46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01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for top-tier sellers (most reliable)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01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programs can lift overall SLA performance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Strategic Actions to Close the SLA Gap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44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Northern Logistics Infrastructure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AL, MA, SE, PI, and CE show late rates above 13.8%. Establish regional distribution centers or partner with local carriers to cut shipping time from 20+ days to under 10.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40–60% reduction in late deliveries for these states.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59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Estimated Delivery Dates for Remote Areas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92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estimates for northern/northeastern states are unrealistic, setting expectations the carrier consistently fails to meet.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92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measured SLA and customer experience via accurate expectations.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44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Performance Audit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77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90.2% of delays are carrier-driven, identify which specific carriers underperform on the worst routes.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777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274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carrier SLA penalties; consider competitive bidding.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217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059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for Small Sellers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492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 (&lt;200 orders) show late rates up to 19%. Fulfillment speed on late orders lags by 3.11 days vs. on-time.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492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92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program targeting fast fulfillment as a secondary lever.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Indicator Definitions &amp; Methodology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1188720"/>
            <a:ext cx="8183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/ Calculation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474720" y="160020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delivery date exceeds the estimated delivery date set at purchase.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04825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/ Late Delivery Rate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474720" y="204825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(On-Time or Late Orders ÷ Total Delivered Orders) × 100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249631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Delivery Delay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3474720" y="249631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days by which late orders exceed the estimate, calculated per delay category to handle high variance.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2944368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294436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Delay Rate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3474720" y="294436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late orders delayed &gt; 30 days — the standard SLA breach threshold.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3392424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3474720" y="3392424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order_approved_at − order_purchase_timestamp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3840480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Fulfillment Time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3474720" y="384048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order_delivered_carrier_date − order_approved_at  (negative = seller shipped early)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502920" y="4288536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28853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Time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3474720" y="428853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order_delivered_customer_date − order_delivered_carrier_date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502920" y="4736592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" y="473659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3474720" y="473659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customer rating post-delivery, averaged by delivery status.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502920" y="5184648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0080" y="518464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State/City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3474720" y="518464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 Orders in Region ÷ Total Delivered in Region) × 100, min. order threshold applied.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502920" y="5724144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= formal commitment that an order will be delivered on/before the estimated date. No explicit contractual SLA exists in the public dataset; the estimated delivery date is used as the SLA benchmark.  |  Data: Olist Brazilian E-Commerce Public Dataset (Kaggle), Jan 2017–Aug 2018. Tools: Python (pandas, NumPy, Matplotlib, Seaborn).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1828799"/>
            <a:ext cx="8844742" cy="187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0" y="37033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8640" y="4023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Olist Brazilian E-Commerce Public Dataset (Kaggle)  |  Analysis Period: Jan 2017 – Aug 2018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43708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performed using Python, Pandas, NumPy, Matplotlib, and Seaborn.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4892954"/>
            <a:ext cx="5402283" cy="1241755"/>
          </a:xfrm>
          <a:prstGeom prst="rect">
            <a:avLst/>
          </a:prstGeom>
          <a:solidFill>
            <a:srgbClr val="16324F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954836" y="5163105"/>
            <a:ext cx="61040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00" b="1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0D0264D-7D94-4D84-310F-419F71222993}"/>
              </a:ext>
            </a:extLst>
          </p:cNvPr>
          <p:cNvCxnSpPr>
            <a:cxnSpLocks/>
          </p:cNvCxnSpPr>
          <p:nvPr/>
        </p:nvCxnSpPr>
        <p:spPr>
          <a:xfrm>
            <a:off x="2665708" y="4927283"/>
            <a:ext cx="0" cy="1207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4885B4D-D5BD-8F43-B758-02DCB49F7F51}"/>
              </a:ext>
            </a:extLst>
          </p:cNvPr>
          <p:cNvSpPr txBox="1"/>
          <p:nvPr/>
        </p:nvSpPr>
        <p:spPr>
          <a:xfrm>
            <a:off x="566929" y="5147689"/>
            <a:ext cx="1945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</a:t>
            </a: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Mohamed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14161E-792C-3D89-CAAB-F7362F0526DA}"/>
              </a:ext>
            </a:extLst>
          </p:cNvPr>
          <p:cNvSpPr txBox="1"/>
          <p:nvPr/>
        </p:nvSpPr>
        <p:spPr>
          <a:xfrm>
            <a:off x="2665707" y="4892954"/>
            <a:ext cx="32365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Supervised by</a:t>
            </a:r>
            <a:r>
              <a:rPr lang="en-US" b="1" dirty="0">
                <a:solidFill>
                  <a:schemeClr val="bg1"/>
                </a:solidFill>
              </a:rPr>
              <a:t> </a:t>
            </a:r>
          </a:p>
          <a:p>
            <a:r>
              <a:rPr lang="en-US" b="1" dirty="0">
                <a:solidFill>
                  <a:schemeClr val="bg1"/>
                </a:solidFill>
              </a:rPr>
              <a:t> 	Mariam Metawe’e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Mentor</a:t>
            </a:r>
            <a:r>
              <a:rPr lang="en-US" b="1" dirty="0">
                <a:solidFill>
                  <a:schemeClr val="bg1"/>
                </a:solidFill>
              </a:rPr>
              <a:t> </a:t>
            </a:r>
          </a:p>
          <a:p>
            <a:r>
              <a:rPr lang="en-US" b="1" dirty="0">
                <a:solidFill>
                  <a:schemeClr val="bg1"/>
                </a:solidFill>
              </a:rPr>
              <a:t> 	Abdulrahman Samhan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2007</Words>
  <Application>Microsoft Office PowerPoint</Application>
  <PresentationFormat>Widescreen</PresentationFormat>
  <Paragraphs>300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Delivery Performance &amp; SLA Analysis</dc:title>
  <dc:subject>PptxGenJS Presentation</dc:subject>
  <dc:creator>Data Analysis Team</dc:creator>
  <cp:lastModifiedBy>youssef kamel</cp:lastModifiedBy>
  <cp:revision>4</cp:revision>
  <dcterms:created xsi:type="dcterms:W3CDTF">2026-06-28T13:08:07Z</dcterms:created>
  <dcterms:modified xsi:type="dcterms:W3CDTF">2026-06-28T23:28:49Z</dcterms:modified>
</cp:coreProperties>
</file>