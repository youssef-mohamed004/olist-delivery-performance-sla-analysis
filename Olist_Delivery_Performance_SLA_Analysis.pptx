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989B"/>
    <a:srgbClr val="F0A35E"/>
    <a:srgbClr val="EB5C75"/>
    <a:srgbClr val="274A70"/>
    <a:srgbClr val="DC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352F6E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ED9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E8-4ACC-BBBA-1462A1266B65}"/>
              </c:ext>
            </c:extLst>
          </c:dPt>
          <c:dPt>
            <c:idx val="1"/>
            <c:bubble3D val="0"/>
            <c:spPr>
              <a:solidFill>
                <a:srgbClr val="EB5C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E8-4ACC-BBBA-1462A1266B65}"/>
              </c:ext>
            </c:extLst>
          </c:dPt>
          <c:cat>
            <c:strRef>
              <c:f>Sheet1!$A$2:$A$3</c:f>
              <c:strCache>
                <c:ptCount val="2"/>
                <c:pt idx="0">
                  <c:v>On-Time</c:v>
                </c:pt>
                <c:pt idx="1">
                  <c:v>Late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93.22</c:v>
                </c:pt>
                <c:pt idx="1">
                  <c:v>6.77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0E8-4ACC-BBBA-1462A1266B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Distribution of Delay Length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Late Orders</c:v>
                </c:pt>
              </c:strCache>
            </c:strRef>
          </c:tx>
          <c:spPr>
            <a:solidFill>
              <a:srgbClr val="5ED9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3D-4961-9897-37657A4D8A23}"/>
              </c:ext>
            </c:extLst>
          </c:dPt>
          <c:dPt>
            <c:idx val="1"/>
            <c:invertIfNegative val="0"/>
            <c:bubble3D val="0"/>
            <c:spPr>
              <a:solidFill>
                <a:srgbClr val="F0A3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3D-4961-9897-37657A4D8A23}"/>
              </c:ext>
            </c:extLst>
          </c:dPt>
          <c:dPt>
            <c:idx val="2"/>
            <c:invertIfNegative val="0"/>
            <c:bubble3D val="0"/>
            <c:spPr>
              <a:solidFill>
                <a:srgbClr val="F0A3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3D-4961-9897-37657A4D8A23}"/>
              </c:ext>
            </c:extLst>
          </c:dPt>
          <c:dPt>
            <c:idx val="3"/>
            <c:invertIfNegative val="0"/>
            <c:bubble3D val="0"/>
            <c:spPr>
              <a:solidFill>
                <a:srgbClr val="EB5C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3D-4961-9897-37657A4D8A2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&lt; 1 Week</c:v>
                </c:pt>
                <c:pt idx="1">
                  <c:v>1 Week–1 Month</c:v>
                </c:pt>
                <c:pt idx="2">
                  <c:v>1–3 Months</c:v>
                </c:pt>
                <c:pt idx="3">
                  <c:v>&gt; 3 Months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48.81</c:v>
                </c:pt>
                <c:pt idx="1">
                  <c:v>45.68</c:v>
                </c:pt>
                <c:pt idx="2">
                  <c:v>4.79</c:v>
                </c:pt>
                <c:pt idx="3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03D-4961-9897-37657A4D8A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3AB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8D4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8"/>
          <c:min val="0"/>
        </c:scaling>
        <c:delete val="0"/>
        <c:axPos val="l"/>
        <c:majorGridlines>
          <c:spPr>
            <a:ln w="6350" cap="flat">
              <a:solidFill>
                <a:srgbClr val="352F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3AB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AB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Late Delivery Rate by Month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ln w="34925" cap="flat">
              <a:solidFill>
                <a:srgbClr val="8B85E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B85E8"/>
              </a:solidFill>
              <a:ln w="9525" cap="flat">
                <a:solidFill>
                  <a:srgbClr val="8B85E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2.9</c:v>
                </c:pt>
                <c:pt idx="1">
                  <c:v>2.9</c:v>
                </c:pt>
                <c:pt idx="2">
                  <c:v>4.5999999999999996</c:v>
                </c:pt>
                <c:pt idx="3">
                  <c:v>6.6</c:v>
                </c:pt>
                <c:pt idx="4">
                  <c:v>3</c:v>
                </c:pt>
                <c:pt idx="5">
                  <c:v>3</c:v>
                </c:pt>
                <c:pt idx="6">
                  <c:v>2.8</c:v>
                </c:pt>
                <c:pt idx="7">
                  <c:v>2.9</c:v>
                </c:pt>
                <c:pt idx="8">
                  <c:v>4.4000000000000004</c:v>
                </c:pt>
                <c:pt idx="9">
                  <c:v>4.2</c:v>
                </c:pt>
                <c:pt idx="10">
                  <c:v>12.5</c:v>
                </c:pt>
                <c:pt idx="11">
                  <c:v>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22-4633-85AA-E19BA68392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</c:v>
                </c:pt>
              </c:strCache>
            </c:strRef>
          </c:tx>
          <c:spPr>
            <a:ln w="34925" cap="flat">
              <a:solidFill>
                <a:srgbClr val="EB5C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B5C75"/>
              </a:solidFill>
              <a:ln w="9525" cap="flat">
                <a:solidFill>
                  <a:srgbClr val="EB5C75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5.7</c:v>
                </c:pt>
                <c:pt idx="1">
                  <c:v>14.1</c:v>
                </c:pt>
                <c:pt idx="2">
                  <c:v>19</c:v>
                </c:pt>
                <c:pt idx="3">
                  <c:v>4.5</c:v>
                </c:pt>
                <c:pt idx="4">
                  <c:v>6.6</c:v>
                </c:pt>
                <c:pt idx="5">
                  <c:v>1.2</c:v>
                </c:pt>
                <c:pt idx="6">
                  <c:v>3.4</c:v>
                </c:pt>
                <c:pt idx="7">
                  <c:v>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422-4633-85AA-E19BA68392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3ABDD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D8D4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52F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3AB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AB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D8D4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Monthly Order Volume vs Late Rate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 %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8B85E8"/>
              </a:solidFill>
              <a:ln w="9525" cap="flat">
                <a:solidFill>
                  <a:srgbClr val="8B85E8"/>
                </a:solidFill>
                <a:prstDash val="solid"/>
                <a:round/>
              </a:ln>
              <a:effectLst/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750</c:v>
                </c:pt>
                <c:pt idx="1">
                  <c:v>1650</c:v>
                </c:pt>
                <c:pt idx="2">
                  <c:v>2300</c:v>
                </c:pt>
                <c:pt idx="3">
                  <c:v>2540</c:v>
                </c:pt>
                <c:pt idx="4">
                  <c:v>3140</c:v>
                </c:pt>
                <c:pt idx="5">
                  <c:v>3530</c:v>
                </c:pt>
                <c:pt idx="6">
                  <c:v>3870</c:v>
                </c:pt>
                <c:pt idx="7">
                  <c:v>4150</c:v>
                </c:pt>
                <c:pt idx="8">
                  <c:v>4200</c:v>
                </c:pt>
                <c:pt idx="9">
                  <c:v>4470</c:v>
                </c:pt>
                <c:pt idx="10">
                  <c:v>5500</c:v>
                </c:pt>
                <c:pt idx="11">
                  <c:v>6080</c:v>
                </c:pt>
                <c:pt idx="12">
                  <c:v>6150</c:v>
                </c:pt>
                <c:pt idx="13">
                  <c:v>6330</c:v>
                </c:pt>
                <c:pt idx="14">
                  <c:v>6550</c:v>
                </c:pt>
                <c:pt idx="15">
                  <c:v>6730</c:v>
                </c:pt>
                <c:pt idx="16">
                  <c:v>6790</c:v>
                </c:pt>
                <c:pt idx="17">
                  <c:v>7000</c:v>
                </c:pt>
                <c:pt idx="18">
                  <c:v>7080</c:v>
                </c:pt>
                <c:pt idx="19">
                  <c:v>7280</c:v>
                </c:pt>
              </c:numCache>
            </c:numRef>
          </c:xVal>
          <c:yVal>
            <c:numRef>
              <c:f>Sheet1!$B$2:$B$21</c:f>
              <c:numCache>
                <c:formatCode>General</c:formatCode>
                <c:ptCount val="20"/>
                <c:pt idx="0">
                  <c:v>2.9</c:v>
                </c:pt>
                <c:pt idx="1">
                  <c:v>2.9</c:v>
                </c:pt>
                <c:pt idx="2">
                  <c:v>6.6</c:v>
                </c:pt>
                <c:pt idx="3">
                  <c:v>4.5</c:v>
                </c:pt>
                <c:pt idx="4">
                  <c:v>3</c:v>
                </c:pt>
                <c:pt idx="5">
                  <c:v>3</c:v>
                </c:pt>
                <c:pt idx="6">
                  <c:v>2.8</c:v>
                </c:pt>
                <c:pt idx="7">
                  <c:v>4.4000000000000004</c:v>
                </c:pt>
                <c:pt idx="8">
                  <c:v>2.9</c:v>
                </c:pt>
                <c:pt idx="9">
                  <c:v>4.2</c:v>
                </c:pt>
                <c:pt idx="10">
                  <c:v>7.5</c:v>
                </c:pt>
                <c:pt idx="11">
                  <c:v>1.2</c:v>
                </c:pt>
                <c:pt idx="12">
                  <c:v>3.4</c:v>
                </c:pt>
                <c:pt idx="13">
                  <c:v>6.2</c:v>
                </c:pt>
                <c:pt idx="14">
                  <c:v>14.1</c:v>
                </c:pt>
                <c:pt idx="15">
                  <c:v>6.6</c:v>
                </c:pt>
                <c:pt idx="16">
                  <c:v>4.5</c:v>
                </c:pt>
                <c:pt idx="17">
                  <c:v>19</c:v>
                </c:pt>
                <c:pt idx="18">
                  <c:v>5.7</c:v>
                </c:pt>
                <c:pt idx="19">
                  <c:v>12.5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F43-4D03-922A-35E9EFD98F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52F6E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B3AB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AB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52F6E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B3AB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AB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Late Delivery Rate by State — Top 20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rgbClr val="B3ABD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 %</c:v>
                </c:pt>
              </c:strCache>
            </c:strRef>
          </c:tx>
          <c:spPr>
            <a:solidFill>
              <a:srgbClr val="C7415C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C7415C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1F3-490A-98D4-42D38AE336EE}"/>
              </c:ext>
            </c:extLst>
          </c:dPt>
          <c:cat>
            <c:strRef>
              <c:f>Sheet1!$A$2:$A$21</c:f>
              <c:strCache>
                <c:ptCount val="20"/>
                <c:pt idx="0">
                  <c:v>AL</c:v>
                </c:pt>
                <c:pt idx="1">
                  <c:v>MA</c:v>
                </c:pt>
                <c:pt idx="2">
                  <c:v>SE</c:v>
                </c:pt>
                <c:pt idx="3">
                  <c:v>PI</c:v>
                </c:pt>
                <c:pt idx="4">
                  <c:v>CE</c:v>
                </c:pt>
                <c:pt idx="5">
                  <c:v>RR</c:v>
                </c:pt>
                <c:pt idx="6">
                  <c:v>BA</c:v>
                </c:pt>
                <c:pt idx="7">
                  <c:v>RJ</c:v>
                </c:pt>
                <c:pt idx="8">
                  <c:v>PA</c:v>
                </c:pt>
                <c:pt idx="9">
                  <c:v>ES</c:v>
                </c:pt>
                <c:pt idx="10">
                  <c:v>PB</c:v>
                </c:pt>
                <c:pt idx="11">
                  <c:v>TO</c:v>
                </c:pt>
                <c:pt idx="12">
                  <c:v>MS</c:v>
                </c:pt>
                <c:pt idx="13">
                  <c:v>PE</c:v>
                </c:pt>
                <c:pt idx="14">
                  <c:v>RN</c:v>
                </c:pt>
                <c:pt idx="15">
                  <c:v>SC</c:v>
                </c:pt>
                <c:pt idx="16">
                  <c:v>GO</c:v>
                </c:pt>
                <c:pt idx="17">
                  <c:v>RS</c:v>
                </c:pt>
                <c:pt idx="18">
                  <c:v>MT</c:v>
                </c:pt>
                <c:pt idx="19">
                  <c:v>DF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21.4</c:v>
                </c:pt>
                <c:pt idx="1">
                  <c:v>17.399999999999999</c:v>
                </c:pt>
                <c:pt idx="2">
                  <c:v>15.2</c:v>
                </c:pt>
                <c:pt idx="3">
                  <c:v>13.9</c:v>
                </c:pt>
                <c:pt idx="4">
                  <c:v>13.8</c:v>
                </c:pt>
                <c:pt idx="5">
                  <c:v>12.2</c:v>
                </c:pt>
                <c:pt idx="6">
                  <c:v>12.2</c:v>
                </c:pt>
                <c:pt idx="7">
                  <c:v>12.1</c:v>
                </c:pt>
                <c:pt idx="8">
                  <c:v>11.2</c:v>
                </c:pt>
                <c:pt idx="9">
                  <c:v>10.7</c:v>
                </c:pt>
                <c:pt idx="10">
                  <c:v>10.4</c:v>
                </c:pt>
                <c:pt idx="11">
                  <c:v>9.9</c:v>
                </c:pt>
                <c:pt idx="12">
                  <c:v>9.6999999999999993</c:v>
                </c:pt>
                <c:pt idx="13">
                  <c:v>9.6</c:v>
                </c:pt>
                <c:pt idx="14">
                  <c:v>9.3000000000000007</c:v>
                </c:pt>
                <c:pt idx="15">
                  <c:v>8.1999999999999993</c:v>
                </c:pt>
                <c:pt idx="16">
                  <c:v>6.6</c:v>
                </c:pt>
                <c:pt idx="17">
                  <c:v>6.1</c:v>
                </c:pt>
                <c:pt idx="18">
                  <c:v>6</c:v>
                </c:pt>
                <c:pt idx="19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F3-490A-98D4-42D38AE336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Late Rate by City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rgbClr val="B3ABD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 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Resende</c:v>
                </c:pt>
                <c:pt idx="1">
                  <c:v>S. J. de Meriti</c:v>
                </c:pt>
                <c:pt idx="2">
                  <c:v>Macaé</c:v>
                </c:pt>
                <c:pt idx="3">
                  <c:v>Rio das Ostras</c:v>
                </c:pt>
                <c:pt idx="4">
                  <c:v>Nova Friburgo</c:v>
                </c:pt>
                <c:pt idx="5">
                  <c:v>Cabo Frio</c:v>
                </c:pt>
                <c:pt idx="6">
                  <c:v>Teresina</c:v>
                </c:pt>
                <c:pt idx="7">
                  <c:v>São Luís</c:v>
                </c:pt>
                <c:pt idx="8">
                  <c:v>São Gonçalo</c:v>
                </c:pt>
                <c:pt idx="9">
                  <c:v>Maceió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15.7</c:v>
                </c:pt>
                <c:pt idx="1">
                  <c:v>16.100000000000001</c:v>
                </c:pt>
                <c:pt idx="2">
                  <c:v>15.8</c:v>
                </c:pt>
                <c:pt idx="3">
                  <c:v>17.7</c:v>
                </c:pt>
                <c:pt idx="4">
                  <c:v>19.7</c:v>
                </c:pt>
                <c:pt idx="5">
                  <c:v>21.2</c:v>
                </c:pt>
                <c:pt idx="6">
                  <c:v>18.8</c:v>
                </c:pt>
                <c:pt idx="7">
                  <c:v>19.399999999999999</c:v>
                </c:pt>
                <c:pt idx="8">
                  <c:v>21.6</c:v>
                </c:pt>
                <c:pt idx="9">
                  <c:v>27.1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51-44FF-8FF1-1906460F49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Seller Order Volume vs Late Rate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rgbClr val="B3ABD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 %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8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xVal>
            <c:numRef>
              <c:f>Sheet1!$A$2:$A$43</c:f>
              <c:numCache>
                <c:formatCode>General</c:formatCode>
                <c:ptCount val="42"/>
                <c:pt idx="0">
                  <c:v>95</c:v>
                </c:pt>
                <c:pt idx="1">
                  <c:v>100</c:v>
                </c:pt>
                <c:pt idx="2">
                  <c:v>110</c:v>
                </c:pt>
                <c:pt idx="3">
                  <c:v>120</c:v>
                </c:pt>
                <c:pt idx="4">
                  <c:v>130</c:v>
                </c:pt>
                <c:pt idx="5">
                  <c:v>140</c:v>
                </c:pt>
                <c:pt idx="6">
                  <c:v>150</c:v>
                </c:pt>
                <c:pt idx="7">
                  <c:v>160</c:v>
                </c:pt>
                <c:pt idx="8">
                  <c:v>170</c:v>
                </c:pt>
                <c:pt idx="9">
                  <c:v>180</c:v>
                </c:pt>
                <c:pt idx="10">
                  <c:v>190</c:v>
                </c:pt>
                <c:pt idx="11">
                  <c:v>200</c:v>
                </c:pt>
                <c:pt idx="12">
                  <c:v>210</c:v>
                </c:pt>
                <c:pt idx="13">
                  <c:v>220</c:v>
                </c:pt>
                <c:pt idx="14">
                  <c:v>230</c:v>
                </c:pt>
                <c:pt idx="15">
                  <c:v>240</c:v>
                </c:pt>
                <c:pt idx="16">
                  <c:v>260</c:v>
                </c:pt>
                <c:pt idx="17">
                  <c:v>280</c:v>
                </c:pt>
                <c:pt idx="18">
                  <c:v>300</c:v>
                </c:pt>
                <c:pt idx="19">
                  <c:v>320</c:v>
                </c:pt>
                <c:pt idx="20">
                  <c:v>340</c:v>
                </c:pt>
                <c:pt idx="21">
                  <c:v>380</c:v>
                </c:pt>
                <c:pt idx="22">
                  <c:v>400</c:v>
                </c:pt>
                <c:pt idx="23">
                  <c:v>420</c:v>
                </c:pt>
                <c:pt idx="24">
                  <c:v>460</c:v>
                </c:pt>
                <c:pt idx="25">
                  <c:v>510</c:v>
                </c:pt>
                <c:pt idx="26">
                  <c:v>560</c:v>
                </c:pt>
                <c:pt idx="27">
                  <c:v>600</c:v>
                </c:pt>
                <c:pt idx="28">
                  <c:v>650</c:v>
                </c:pt>
                <c:pt idx="29">
                  <c:v>700</c:v>
                </c:pt>
                <c:pt idx="30">
                  <c:v>900</c:v>
                </c:pt>
                <c:pt idx="31">
                  <c:v>950</c:v>
                </c:pt>
                <c:pt idx="32">
                  <c:v>1000</c:v>
                </c:pt>
                <c:pt idx="33">
                  <c:v>1070</c:v>
                </c:pt>
                <c:pt idx="34">
                  <c:v>1130</c:v>
                </c:pt>
                <c:pt idx="35">
                  <c:v>1140</c:v>
                </c:pt>
                <c:pt idx="36">
                  <c:v>1250</c:v>
                </c:pt>
                <c:pt idx="37">
                  <c:v>1310</c:v>
                </c:pt>
                <c:pt idx="38">
                  <c:v>1390</c:v>
                </c:pt>
                <c:pt idx="39">
                  <c:v>1650</c:v>
                </c:pt>
                <c:pt idx="40">
                  <c:v>1770</c:v>
                </c:pt>
                <c:pt idx="41">
                  <c:v>1820</c:v>
                </c:pt>
              </c:numCache>
            </c:numRef>
          </c:xVal>
          <c:yVal>
            <c:numRef>
              <c:f>Sheet1!$B$2:$B$43</c:f>
              <c:numCache>
                <c:formatCode>General</c:formatCode>
                <c:ptCount val="42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9</c:v>
                </c:pt>
                <c:pt idx="6">
                  <c:v>11</c:v>
                </c:pt>
                <c:pt idx="7">
                  <c:v>12</c:v>
                </c:pt>
                <c:pt idx="8">
                  <c:v>5</c:v>
                </c:pt>
                <c:pt idx="9">
                  <c:v>7</c:v>
                </c:pt>
                <c:pt idx="10">
                  <c:v>4</c:v>
                </c:pt>
                <c:pt idx="11">
                  <c:v>2</c:v>
                </c:pt>
                <c:pt idx="12">
                  <c:v>8</c:v>
                </c:pt>
                <c:pt idx="13">
                  <c:v>13</c:v>
                </c:pt>
                <c:pt idx="14">
                  <c:v>17</c:v>
                </c:pt>
                <c:pt idx="15">
                  <c:v>16</c:v>
                </c:pt>
                <c:pt idx="16">
                  <c:v>6</c:v>
                </c:pt>
                <c:pt idx="17">
                  <c:v>5</c:v>
                </c:pt>
                <c:pt idx="18">
                  <c:v>9</c:v>
                </c:pt>
                <c:pt idx="19">
                  <c:v>3</c:v>
                </c:pt>
                <c:pt idx="20">
                  <c:v>14</c:v>
                </c:pt>
                <c:pt idx="21">
                  <c:v>19</c:v>
                </c:pt>
                <c:pt idx="22">
                  <c:v>8</c:v>
                </c:pt>
                <c:pt idx="23">
                  <c:v>4</c:v>
                </c:pt>
                <c:pt idx="24">
                  <c:v>13</c:v>
                </c:pt>
                <c:pt idx="25">
                  <c:v>12</c:v>
                </c:pt>
                <c:pt idx="26">
                  <c:v>2</c:v>
                </c:pt>
                <c:pt idx="27">
                  <c:v>9</c:v>
                </c:pt>
                <c:pt idx="28">
                  <c:v>11</c:v>
                </c:pt>
                <c:pt idx="29">
                  <c:v>5</c:v>
                </c:pt>
                <c:pt idx="30">
                  <c:v>8</c:v>
                </c:pt>
                <c:pt idx="31">
                  <c:v>9</c:v>
                </c:pt>
                <c:pt idx="32">
                  <c:v>5</c:v>
                </c:pt>
                <c:pt idx="33">
                  <c:v>5</c:v>
                </c:pt>
                <c:pt idx="34">
                  <c:v>10.5</c:v>
                </c:pt>
                <c:pt idx="35">
                  <c:v>8</c:v>
                </c:pt>
                <c:pt idx="36">
                  <c:v>6</c:v>
                </c:pt>
                <c:pt idx="37">
                  <c:v>7</c:v>
                </c:pt>
                <c:pt idx="38">
                  <c:v>8.8000000000000007</c:v>
                </c:pt>
                <c:pt idx="39">
                  <c:v>5.3</c:v>
                </c:pt>
                <c:pt idx="40">
                  <c:v>9.6999999999999993</c:v>
                </c:pt>
                <c:pt idx="41">
                  <c:v>5.3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140-44D6-9D07-3FEB14EAFF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% of Late Orders Affected, by Stage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rgbClr val="B3ABD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Late Orders Affected</c:v>
                </c:pt>
              </c:strCache>
            </c:strRef>
          </c:tx>
          <c:spPr>
            <a:solidFill>
              <a:srgbClr val="EB5C75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Seller Fulfillment</c:v>
                </c:pt>
                <c:pt idx="1">
                  <c:v>Processing</c:v>
                </c:pt>
                <c:pt idx="2">
                  <c:v>Shipping (Carrier)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20.2</c:v>
                </c:pt>
                <c:pt idx="1">
                  <c:v>21</c:v>
                </c:pt>
                <c:pt idx="2">
                  <c:v>90.2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C2-4EC1-9097-C5AE7D00F4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Shipping Time by State (Days, Carrier → Customer)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rgbClr val="B3ABD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Shipping Days</c:v>
                </c:pt>
              </c:strCache>
            </c:strRef>
          </c:tx>
          <c:spPr>
            <a:solidFill>
              <a:srgbClr val="8B85E8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Sheet1!$A$2:$A$26</c:f>
              <c:strCache>
                <c:ptCount val="25"/>
                <c:pt idx="0">
                  <c:v>RR</c:v>
                </c:pt>
                <c:pt idx="1">
                  <c:v>AP</c:v>
                </c:pt>
                <c:pt idx="2">
                  <c:v>AM</c:v>
                </c:pt>
                <c:pt idx="3">
                  <c:v>AL</c:v>
                </c:pt>
                <c:pt idx="4">
                  <c:v>PA</c:v>
                </c:pt>
                <c:pt idx="5">
                  <c:v>MA</c:v>
                </c:pt>
                <c:pt idx="6">
                  <c:v>SE</c:v>
                </c:pt>
                <c:pt idx="7">
                  <c:v>CE</c:v>
                </c:pt>
                <c:pt idx="8">
                  <c:v>AC</c:v>
                </c:pt>
                <c:pt idx="9">
                  <c:v>PB</c:v>
                </c:pt>
                <c:pt idx="10">
                  <c:v>RO</c:v>
                </c:pt>
                <c:pt idx="11">
                  <c:v>PI</c:v>
                </c:pt>
                <c:pt idx="12">
                  <c:v>BA</c:v>
                </c:pt>
                <c:pt idx="13">
                  <c:v>RN</c:v>
                </c:pt>
                <c:pt idx="14">
                  <c:v>PE</c:v>
                </c:pt>
                <c:pt idx="15">
                  <c:v>MT</c:v>
                </c:pt>
                <c:pt idx="16">
                  <c:v>GO</c:v>
                </c:pt>
                <c:pt idx="17">
                  <c:v>ES</c:v>
                </c:pt>
                <c:pt idx="18">
                  <c:v>RS</c:v>
                </c:pt>
                <c:pt idx="19">
                  <c:v>RJ</c:v>
                </c:pt>
                <c:pt idx="20">
                  <c:v>SC</c:v>
                </c:pt>
                <c:pt idx="21">
                  <c:v>DF</c:v>
                </c:pt>
                <c:pt idx="22">
                  <c:v>MG</c:v>
                </c:pt>
                <c:pt idx="23">
                  <c:v>PR</c:v>
                </c:pt>
                <c:pt idx="24">
                  <c:v>SP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25.2</c:v>
                </c:pt>
                <c:pt idx="1">
                  <c:v>23.2</c:v>
                </c:pt>
                <c:pt idx="2">
                  <c:v>23.1</c:v>
                </c:pt>
                <c:pt idx="3">
                  <c:v>20.6</c:v>
                </c:pt>
                <c:pt idx="4">
                  <c:v>19.899999999999999</c:v>
                </c:pt>
                <c:pt idx="5">
                  <c:v>17.5</c:v>
                </c:pt>
                <c:pt idx="6">
                  <c:v>17.399999999999999</c:v>
                </c:pt>
                <c:pt idx="7">
                  <c:v>17.3</c:v>
                </c:pt>
                <c:pt idx="8">
                  <c:v>17.100000000000001</c:v>
                </c:pt>
                <c:pt idx="9">
                  <c:v>15.4</c:v>
                </c:pt>
                <c:pt idx="10">
                  <c:v>16</c:v>
                </c:pt>
                <c:pt idx="11">
                  <c:v>15.7</c:v>
                </c:pt>
                <c:pt idx="12">
                  <c:v>15.4</c:v>
                </c:pt>
                <c:pt idx="13">
                  <c:v>15.2</c:v>
                </c:pt>
                <c:pt idx="14">
                  <c:v>14.6</c:v>
                </c:pt>
                <c:pt idx="15">
                  <c:v>14.3</c:v>
                </c:pt>
                <c:pt idx="16">
                  <c:v>13.6</c:v>
                </c:pt>
                <c:pt idx="17">
                  <c:v>12</c:v>
                </c:pt>
                <c:pt idx="18">
                  <c:v>11.6</c:v>
                </c:pt>
                <c:pt idx="19">
                  <c:v>11.5</c:v>
                </c:pt>
                <c:pt idx="20">
                  <c:v>11.1</c:v>
                </c:pt>
                <c:pt idx="21">
                  <c:v>9.3000000000000007</c:v>
                </c:pt>
                <c:pt idx="22">
                  <c:v>8.1999999999999993</c:v>
                </c:pt>
                <c:pt idx="23">
                  <c:v>8.1999999999999993</c:v>
                </c:pt>
                <c:pt idx="24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95-4425-8F79-F373A7337C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B3ABD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Average Customer Rating (out of 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Review Score</c:v>
                </c:pt>
              </c:strCache>
            </c:strRef>
          </c:tx>
          <c:spPr>
            <a:solidFill>
              <a:srgbClr val="5ED9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014-4CB4-B605-CD41C3ABB2FD}"/>
              </c:ext>
            </c:extLst>
          </c:dPt>
          <c:dPt>
            <c:idx val="1"/>
            <c:invertIfNegative val="0"/>
            <c:bubble3D val="0"/>
            <c:spPr>
              <a:solidFill>
                <a:srgbClr val="EB5C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014-4CB4-B605-CD41C3ABB2F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Cambr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Early / On-Time</c:v>
                </c:pt>
                <c:pt idx="1">
                  <c:v>Late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4.29</c:v>
                </c:pt>
                <c:pt idx="1">
                  <c:v>2.27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014-4CB4-B605-CD41C3ABB2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3ABD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8D4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352F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3AB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AB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0307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chart" Target="../charts/char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65760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253728" y="365760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37776" y="365760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21824" y="365760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05872" y="365760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89920" y="365760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173968" y="365760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69680" y="749808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253728" y="749808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37776" y="749808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21824" y="749808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405872" y="749808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789920" y="749808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173968" y="749808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869680" y="1133856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53728" y="1133856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637776" y="1133856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021824" y="1133856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405872" y="1133856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789920" y="1133856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173968" y="1133856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69680" y="1517904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253728" y="1517904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37776" y="1517904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21824" y="1517904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405872" y="1517904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789920" y="1517904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1173968" y="1517904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869680" y="1901952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253728" y="1901952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637776" y="1901952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021824" y="1901952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405872" y="1901952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789920" y="1901952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173968" y="1901952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 ·  OLIST BRAZILIAN E-COMMERCE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" y="1783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</a:t>
            </a:r>
            <a:endParaRPr lang="en-US" sz="5200" dirty="0"/>
          </a:p>
        </p:txBody>
      </p:sp>
      <p:sp>
        <p:nvSpPr>
          <p:cNvPr id="39" name="Text 37"/>
          <p:cNvSpPr/>
          <p:nvPr/>
        </p:nvSpPr>
        <p:spPr>
          <a:xfrm>
            <a:off x="530352" y="25420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SLA Analysis</a:t>
            </a:r>
            <a:endParaRPr lang="en-US" sz="5200" dirty="0"/>
          </a:p>
        </p:txBody>
      </p:sp>
      <p:sp>
        <p:nvSpPr>
          <p:cNvPr id="40" name="Text 38"/>
          <p:cNvSpPr/>
          <p:nvPr/>
        </p:nvSpPr>
        <p:spPr>
          <a:xfrm>
            <a:off x="54864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meeting our delivery SLAs, and how does delivery performance impact customer satisfaction and business outcomes?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0" y="4617720"/>
            <a:ext cx="12191695" cy="16459"/>
          </a:xfrm>
          <a:prstGeom prst="rect">
            <a:avLst/>
          </a:prstGeom>
          <a:solidFill>
            <a:srgbClr val="F0A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8640" y="4892040"/>
            <a:ext cx="2606040" cy="1143000"/>
          </a:xfrm>
          <a:prstGeom prst="rect">
            <a:avLst/>
          </a:prstGeom>
          <a:solidFill>
            <a:srgbClr val="241F52"/>
          </a:solidFill>
          <a:ln w="12700">
            <a:solidFill>
              <a:srgbClr val="35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48640" y="4892040"/>
            <a:ext cx="2606040" cy="54864"/>
          </a:xfrm>
          <a:prstGeom prst="rect">
            <a:avLst/>
          </a:prstGeom>
          <a:solidFill>
            <a:srgbClr val="F2A0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13232" y="503834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96,470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13232" y="5568696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19272" y="4892040"/>
            <a:ext cx="2606040" cy="1143000"/>
          </a:xfrm>
          <a:prstGeom prst="rect">
            <a:avLst/>
          </a:prstGeom>
          <a:solidFill>
            <a:srgbClr val="241F52"/>
          </a:solidFill>
          <a:ln w="12700">
            <a:solidFill>
              <a:srgbClr val="35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319272" y="4892040"/>
            <a:ext cx="2606040" cy="54864"/>
          </a:xfrm>
          <a:prstGeom prst="rect">
            <a:avLst/>
          </a:prstGeom>
          <a:solidFill>
            <a:srgbClr val="F2A0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83864" y="503834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93.2%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3483864" y="5568696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89904" y="4892040"/>
            <a:ext cx="2606040" cy="1143000"/>
          </a:xfrm>
          <a:prstGeom prst="rect">
            <a:avLst/>
          </a:prstGeom>
          <a:solidFill>
            <a:srgbClr val="241F52"/>
          </a:solidFill>
          <a:ln w="12700">
            <a:solidFill>
              <a:srgbClr val="35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089904" y="4892040"/>
            <a:ext cx="2606040" cy="54864"/>
          </a:xfrm>
          <a:prstGeom prst="rect">
            <a:avLst/>
          </a:prstGeom>
          <a:solidFill>
            <a:srgbClr val="F2A0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54496" y="503834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6.77%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6254496" y="5568696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60536" y="4892040"/>
            <a:ext cx="2606040" cy="1143000"/>
          </a:xfrm>
          <a:prstGeom prst="rect">
            <a:avLst/>
          </a:prstGeom>
          <a:solidFill>
            <a:srgbClr val="241F52"/>
          </a:solidFill>
          <a:ln w="12700">
            <a:solidFill>
              <a:srgbClr val="35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860536" y="4892040"/>
            <a:ext cx="2606040" cy="54864"/>
          </a:xfrm>
          <a:prstGeom prst="rect">
            <a:avLst/>
          </a:prstGeom>
          <a:solidFill>
            <a:srgbClr val="F2A0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025128" y="503834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vs 2.3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9025128" y="5568696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Satisfaction: On-Time vs Late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</a:t>
            </a:r>
            <a:r>
              <a:rPr lang="en-US" sz="1050" b="1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oussef Mohamed </a:t>
            </a:r>
            <a:r>
              <a:rPr lang="en-US" sz="10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Brazilian E-Commerce Dataset (Olist), 2017–2018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512064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66928" cy="457200"/>
          </a:xfrm>
          <a:prstGeom prst="rect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98448" y="156362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Overview &amp; KPIs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98448" y="184708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vs late delivery rates, and the severity of delays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11064240" cy="0"/>
          </a:xfrm>
          <a:prstGeom prst="line">
            <a:avLst/>
          </a:prstGeom>
          <a:noFill/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566928" cy="457200"/>
          </a:xfrm>
          <a:prstGeom prst="rect">
            <a:avLst/>
          </a:prstGeom>
          <a:solidFill>
            <a:srgbClr val="F0A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2677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98448" y="223113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Analysis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98448" y="251460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yearly trends in late delivery performance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11064240" cy="0"/>
          </a:xfrm>
          <a:prstGeom prst="line">
            <a:avLst/>
          </a:prstGeom>
          <a:noFill/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2935224"/>
            <a:ext cx="566928" cy="45720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93522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98448" y="28986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Performance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98448" y="3182112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and cities suffer the worst delays — and why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47872"/>
            <a:ext cx="11064240" cy="0"/>
          </a:xfrm>
          <a:prstGeom prst="line">
            <a:avLst/>
          </a:prstGeom>
          <a:noFill/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602736"/>
            <a:ext cx="566928" cy="457200"/>
          </a:xfrm>
          <a:prstGeom prst="rect">
            <a:avLst/>
          </a:prstGeom>
          <a:solidFill>
            <a:srgbClr val="8B8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60273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98448" y="35661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Impact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3849624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seller scale or reliability affect delivery speed?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215384"/>
            <a:ext cx="11064240" cy="0"/>
          </a:xfrm>
          <a:prstGeom prst="line">
            <a:avLst/>
          </a:prstGeom>
          <a:noFill/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4270248"/>
            <a:ext cx="566928" cy="457200"/>
          </a:xfrm>
          <a:prstGeom prst="rect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27024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98448" y="423367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Bottlenecks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98448" y="4517136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exactly in the order journey delays originate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882896"/>
            <a:ext cx="11064240" cy="0"/>
          </a:xfrm>
          <a:prstGeom prst="line">
            <a:avLst/>
          </a:prstGeom>
          <a:noFill/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566928" cy="457200"/>
          </a:xfrm>
          <a:prstGeom prst="rect">
            <a:avLst/>
          </a:prstGeom>
          <a:solidFill>
            <a:srgbClr val="F0A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49377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298448" y="490118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Impact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98448" y="518464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delays translate directly into lost trust and reviews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550408"/>
            <a:ext cx="11064240" cy="0"/>
          </a:xfrm>
          <a:prstGeom prst="line">
            <a:avLst/>
          </a:prstGeom>
          <a:noFill/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8640" y="5605272"/>
            <a:ext cx="566928" cy="45720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560527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298448" y="556869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98448" y="585216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Strategic, data-backed actions to fix the SLA gap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We Meeting Our Delivery Promise?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96,470 Delivered Orders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325880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4"/>
          <p:cNvSpPr/>
          <p:nvPr/>
        </p:nvSpPr>
        <p:spPr>
          <a:xfrm>
            <a:off x="141732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93.22%</a:t>
            </a:r>
            <a:endParaRPr lang="en-US" sz="2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3A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On-Time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868680" y="5074920"/>
            <a:ext cx="146304" cy="146304"/>
          </a:xfrm>
          <a:prstGeom prst="ellipse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15568" y="5010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Orders — 89,936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5367528"/>
            <a:ext cx="146304" cy="146304"/>
          </a:xfrm>
          <a:prstGeom prst="ellipse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15568" y="5303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Orders — 6,534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532120" y="1325880"/>
            <a:ext cx="6126480" cy="841248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532120" y="1325880"/>
            <a:ext cx="64008" cy="841248"/>
          </a:xfrm>
          <a:prstGeom prst="rect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33288" y="1417320"/>
            <a:ext cx="5760720" cy="487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93.22%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5733288" y="1847454"/>
            <a:ext cx="576072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 — meets baseline service expectation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32120" y="2286000"/>
            <a:ext cx="6126480" cy="841248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532120" y="2286000"/>
            <a:ext cx="64008" cy="841248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33288" y="2377440"/>
            <a:ext cx="5760720" cy="487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6.77%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5733288" y="2807574"/>
            <a:ext cx="576072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 — the core risk this report investigates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532120" y="3246120"/>
            <a:ext cx="6126480" cy="841248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532120" y="3246120"/>
            <a:ext cx="64008" cy="841248"/>
          </a:xfrm>
          <a:prstGeom prst="rect">
            <a:avLst/>
          </a:prstGeom>
          <a:solidFill>
            <a:srgbClr val="352E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33288" y="3337560"/>
            <a:ext cx="5760720" cy="487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96,470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5733288" y="3767694"/>
            <a:ext cx="576072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Delivered Orders analyzed (Jan 2017 – Aug 2018)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532120" y="4343400"/>
            <a:ext cx="6126480" cy="1600200"/>
          </a:xfrm>
          <a:prstGeom prst="rect">
            <a:avLst/>
          </a:prstGeom>
          <a:solidFill>
            <a:srgbClr val="3D2A4A"/>
          </a:solidFill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532120" y="4343400"/>
            <a:ext cx="64008" cy="160020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760720" y="445312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B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760720" y="4727448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93.22% of orders arrive on time — a healthy baseline. But the remaining 6.77% (6,534 orders) is not a rounding error: it represents thousands of customers experiencing a broken promise, and — as the next sections show — a measurable, severe hit to satisfaction and trust.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Performance &amp; SLA Analysis  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Orders Are Late, How Late Are They?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Severity Breakdown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371600"/>
          <a:ext cx="66751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1371600"/>
            <a:ext cx="4206240" cy="105156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452360" y="1371600"/>
            <a:ext cx="64008" cy="1051560"/>
          </a:xfrm>
          <a:prstGeom prst="rect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53528" y="1463040"/>
            <a:ext cx="384048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94.49%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653528" y="2023567"/>
            <a:ext cx="384048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delays are minor — under one month. The network is functional but inconsistent.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52360" y="2542032"/>
            <a:ext cx="4206240" cy="105156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452360" y="2542032"/>
            <a:ext cx="64008" cy="105156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653528" y="2633472"/>
            <a:ext cx="384048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5.51%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653528" y="3193999"/>
            <a:ext cx="384048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late orders are severe (&gt;1 month) — critical SLA breaches with high refund/complaint risk.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52360" y="3730752"/>
            <a:ext cx="4206240" cy="1874520"/>
          </a:xfrm>
          <a:prstGeom prst="rect">
            <a:avLst/>
          </a:prstGeom>
          <a:solidFill>
            <a:srgbClr val="3D2A4A"/>
          </a:solidFill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452360" y="3730752"/>
            <a:ext cx="64008" cy="187452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80960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B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80960" y="41148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 is not the size of the delay — it's that a delay happens at all. 94.49% of late orders recover within a month, but the 5.51% severe tail (avg. 43–129 days late) is enough to trigger churn, refunds, and reputational damage disproportionate to its volume.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Performance &amp; SLA Analysis  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Performance Is Deteriorating Over Time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vs 2018 Monthly Trend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325880"/>
          <a:ext cx="73152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8183880" y="1280160"/>
            <a:ext cx="3520440" cy="86868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183880" y="1280160"/>
            <a:ext cx="64008" cy="86868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385048" y="1371600"/>
            <a:ext cx="3154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385048" y="1818742"/>
            <a:ext cx="315468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late rate — March 2018, the worst month on record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83880" y="2212848"/>
            <a:ext cx="3520440" cy="86868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183880" y="2212848"/>
            <a:ext cx="64008" cy="868680"/>
          </a:xfrm>
          <a:prstGeom prst="rect">
            <a:avLst/>
          </a:prstGeom>
          <a:solidFill>
            <a:srgbClr val="F0A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385048" y="2304288"/>
            <a:ext cx="3154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385048" y="2751430"/>
            <a:ext cx="315468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peak — November 2017 (holiday season surge)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83880" y="3145536"/>
            <a:ext cx="3520440" cy="86868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83880" y="3145536"/>
            <a:ext cx="64008" cy="868680"/>
          </a:xfrm>
          <a:prstGeom prst="rect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85048" y="3236976"/>
            <a:ext cx="3154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~1.2%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385048" y="3684118"/>
            <a:ext cx="315468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 — June 2018, proving the network can perform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183880" y="4078224"/>
            <a:ext cx="3520440" cy="1682496"/>
          </a:xfrm>
          <a:prstGeom prst="rect">
            <a:avLst/>
          </a:prstGeom>
          <a:solidFill>
            <a:srgbClr val="3D2A4A"/>
          </a:solidFill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183880" y="4078224"/>
            <a:ext cx="64008" cy="1682496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12480" y="41879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B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412480" y="4462272"/>
            <a:ext cx="30632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rates worsened year-over-year — March 2018's 19% peak far exceeds Nov 2017's 12.5% — the logistics network failed to scale with order growth, risking loyalty during Olist's most critical growth phase.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Performance &amp; SLA Analysis  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Growth the Problem? No — Geography 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vs Late Rate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325880"/>
          <a:ext cx="68580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325880"/>
            <a:ext cx="4023360" cy="233172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90956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SCATTER SHOWS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09560" y="18288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correlation between order volume and late rate.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the highest-volume months (7,000+ orders) sit both at the lowest and the highest late rates.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rules out “we grew too fast” as the root cause.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680960" y="3840480"/>
            <a:ext cx="4023360" cy="1920240"/>
          </a:xfrm>
          <a:prstGeom prst="rect">
            <a:avLst/>
          </a:prstGeom>
          <a:solidFill>
            <a:srgbClr val="3D3450"/>
          </a:solidFill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680960" y="3840480"/>
            <a:ext cx="64008" cy="1920240"/>
          </a:xfrm>
          <a:prstGeom prst="rect">
            <a:avLst/>
          </a:prstGeom>
          <a:solidFill>
            <a:srgbClr val="F0A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909560" y="3950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0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09560" y="4224528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order volume does NOT directly cause higher late rates — the correlation is weak. This confirms the bottleneck is structural (geographic and carrier-related), not a capacity problem. Scaling sellers and warehouses alone will not fix the SLA gap.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Performance &amp; SLA Analysis  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Northern &amp; Northeastern States Are Struggling Most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 by State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144730161"/>
              </p:ext>
            </p:extLst>
          </p:nvPr>
        </p:nvGraphicFramePr>
        <p:xfrm>
          <a:off x="502920" y="1325880"/>
          <a:ext cx="7772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8549640" y="1325880"/>
            <a:ext cx="3154680" cy="96012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549640" y="1325880"/>
            <a:ext cx="64008" cy="96012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750808" y="1417320"/>
            <a:ext cx="278892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21.4%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750808" y="1921154"/>
            <a:ext cx="278892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Alagoas (AL) — the single worst-performing state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49640" y="2377440"/>
            <a:ext cx="3154680" cy="96012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549640" y="2377440"/>
            <a:ext cx="64008" cy="960120"/>
          </a:xfrm>
          <a:prstGeom prst="rect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750808" y="2468880"/>
            <a:ext cx="278892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~2.8%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750808" y="2972714"/>
            <a:ext cx="278892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Amazonas (AM) — among the best, despite remoteness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49640" y="3429000"/>
            <a:ext cx="3154680" cy="2331720"/>
          </a:xfrm>
          <a:prstGeom prst="rect">
            <a:avLst/>
          </a:prstGeom>
          <a:solidFill>
            <a:srgbClr val="3D2A4A"/>
          </a:solidFill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549640" y="3429000"/>
            <a:ext cx="64008" cy="233172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778240" y="35387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B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78240" y="3813048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worst-performing states (AL, MA, SE, PI, CE) are concentrated in Brazil's Northeast — far from the São Paulo seller hub. This is a geographic pattern, not a random one, and it points to a structural carrier and infrastructure gap rather than scattered local failures.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Performance &amp; SLA Analysis  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Ten Cities With the Worst Delivery Record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Cities — Late Rate %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489987102"/>
              </p:ext>
            </p:extLst>
          </p:nvPr>
        </p:nvGraphicFramePr>
        <p:xfrm>
          <a:off x="502920" y="1325880"/>
          <a:ext cx="63093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7086600" y="1325880"/>
            <a:ext cx="4617720" cy="91440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086600" y="1325880"/>
            <a:ext cx="64008" cy="91440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287768" y="1417320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27.1%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287768" y="189280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Maceió — highest late rate of any city (64 of 236 orders late)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86600" y="2331720"/>
            <a:ext cx="4617720" cy="91440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086600" y="2331720"/>
            <a:ext cx="64008" cy="914400"/>
          </a:xfrm>
          <a:prstGeom prst="rect">
            <a:avLst/>
          </a:prstGeom>
          <a:solidFill>
            <a:srgbClr val="F0A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287768" y="2423160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21.6%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287768" y="289864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Gonçalo — 2nd worst, also the highest late order count (83)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86600" y="3337560"/>
            <a:ext cx="4617720" cy="2468880"/>
          </a:xfrm>
          <a:prstGeom prst="rect">
            <a:avLst/>
          </a:prstGeom>
          <a:solidFill>
            <a:srgbClr val="3D3450"/>
          </a:solidFill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86600" y="3337560"/>
            <a:ext cx="64008" cy="2468880"/>
          </a:xfrm>
          <a:prstGeom prst="rect">
            <a:avLst/>
          </a:prstGeom>
          <a:solidFill>
            <a:srgbClr val="F0A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0" y="34472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0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0" y="3721608"/>
            <a:ext cx="4160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data confirms the state-level pattern: Maceió, São Gonçalo, and São Luís — all far from São Paulo — dominate the worst-performers list. Fixing this requires regional distribution centers in the Northeast, not seller-level or city-by-city interventions.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Performance &amp; SLA Analysis  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Bigger Sellers More Reliable?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Volume vs Late Rate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970336644"/>
              </p:ext>
            </p:extLst>
          </p:nvPr>
        </p:nvGraphicFramePr>
        <p:xfrm>
          <a:off x="502920" y="132588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325880"/>
            <a:ext cx="3977640" cy="91440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726680" y="1325880"/>
            <a:ext cx="64008" cy="914400"/>
          </a:xfrm>
          <a:prstGeom prst="rect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927848" y="1399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27848" y="167335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1,000 orders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27848" y="1892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D9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 – 10%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464040" y="19476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4E9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Reliable</a:t>
            </a:r>
            <a:endParaRPr lang="en-US" sz="1000" b="1" dirty="0">
              <a:solidFill>
                <a:srgbClr val="4E989B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726680" y="2350008"/>
            <a:ext cx="3977640" cy="91440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726680" y="2350008"/>
            <a:ext cx="64008" cy="914400"/>
          </a:xfrm>
          <a:prstGeom prst="rect">
            <a:avLst/>
          </a:prstGeom>
          <a:solidFill>
            <a:srgbClr val="F0A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927848" y="2423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27848" y="269748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– 1,000 orders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927848" y="2916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 – 14%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464040" y="29718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0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b="1" dirty="0">
              <a:solidFill>
                <a:srgbClr val="F0A35E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726680" y="3374136"/>
            <a:ext cx="3977640" cy="91440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726680" y="3374136"/>
            <a:ext cx="64008" cy="91440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927848" y="34472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Sellers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927848" y="372160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orders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27848" y="39410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B5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19%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464040" y="39959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B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</a:t>
            </a:r>
            <a:endParaRPr lang="en-US" sz="1000" b="1" dirty="0">
              <a:solidFill>
                <a:srgbClr val="EB5C75"/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726680" y="4443984"/>
            <a:ext cx="3977640" cy="1508760"/>
          </a:xfrm>
          <a:prstGeom prst="rect">
            <a:avLst/>
          </a:prstGeom>
          <a:solidFill>
            <a:srgbClr val="2E2A5C"/>
          </a:solidFill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726680" y="4443984"/>
            <a:ext cx="64008" cy="1508760"/>
          </a:xfrm>
          <a:prstGeom prst="rect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955280" y="45537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E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955280" y="482803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sellers are significantly more reliable, suggesting scale correlates with better logistics coordination. But even the best sellers are subject to carrier delays — seller performance alone doesn't determine on-time delivery.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Performance &amp; SLA Analysis  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BOTTLENECKS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Exactly Does the Delay Happen?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Journey Stage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383280" cy="416052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0" y="1664208"/>
            <a:ext cx="731520" cy="731520"/>
          </a:xfrm>
          <a:prstGeom prst="ellipse">
            <a:avLst/>
          </a:prstGeom>
          <a:solidFill>
            <a:srgbClr val="352E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build/icons/invoi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365" y="1839773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2920" y="2852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→ Approval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3375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Orders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35570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ED9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 days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77240" y="3959352"/>
            <a:ext cx="2834640" cy="0"/>
          </a:xfrm>
          <a:prstGeom prst="line">
            <a:avLst/>
          </a:prstGeom>
          <a:noFill/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40507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Orders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77240" y="4270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0.33 days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77240" y="46725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+0.07d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" y="5074920"/>
            <a:ext cx="2834640" cy="347472"/>
          </a:xfrm>
          <a:prstGeom prst="rect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7240" y="5074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bottleneck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206240" y="1371600"/>
            <a:ext cx="3383280" cy="416052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532120" y="1664208"/>
            <a:ext cx="731520" cy="731520"/>
          </a:xfrm>
          <a:prstGeom prst="ellipse">
            <a:avLst/>
          </a:prstGeom>
          <a:solidFill>
            <a:srgbClr val="352E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/home/claude/build/icons/warehou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685" y="1839773"/>
            <a:ext cx="380390" cy="38039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0624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 Fulfillment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4206240" y="2852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→ Carrier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480560" y="33375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Orders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480560" y="35570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ED9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−4.06 days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4480560" y="3959352"/>
            <a:ext cx="2834640" cy="0"/>
          </a:xfrm>
          <a:prstGeom prst="line">
            <a:avLst/>
          </a:prstGeom>
          <a:noFill/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480560" y="40507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Orders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480560" y="4270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−0.95 days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4480560" y="46725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+3.11d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480560" y="5074920"/>
            <a:ext cx="2834640" cy="347472"/>
          </a:xfrm>
          <a:prstGeom prst="rect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480560" y="5074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bottleneck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7909560" y="1371600"/>
            <a:ext cx="3383280" cy="4160520"/>
          </a:xfrm>
          <a:prstGeom prst="rect">
            <a:avLst/>
          </a:prstGeom>
          <a:solidFill>
            <a:srgbClr val="3D2A4A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7909560" y="1371600"/>
            <a:ext cx="3383280" cy="73152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9235440" y="1664208"/>
            <a:ext cx="731520" cy="731520"/>
          </a:xfrm>
          <a:prstGeom prst="ellipse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2" descr="/home/claude/build/icons/shipfast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1005" y="1839773"/>
            <a:ext cx="380390" cy="38039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790956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</a:t>
            </a:r>
            <a:endParaRPr lang="en-US" sz="1700" dirty="0"/>
          </a:p>
        </p:txBody>
      </p:sp>
      <p:sp>
        <p:nvSpPr>
          <p:cNvPr id="37" name="Text 32"/>
          <p:cNvSpPr/>
          <p:nvPr/>
        </p:nvSpPr>
        <p:spPr>
          <a:xfrm>
            <a:off x="7909560" y="2852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→ Customer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8183880" y="33375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Orders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8183880" y="35570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ED9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7.51 days</a:t>
            </a:r>
            <a:endParaRPr lang="en-US" sz="1700" dirty="0"/>
          </a:p>
        </p:txBody>
      </p:sp>
      <p:sp>
        <p:nvSpPr>
          <p:cNvPr id="40" name="Shape 35"/>
          <p:cNvSpPr/>
          <p:nvPr/>
        </p:nvSpPr>
        <p:spPr>
          <a:xfrm>
            <a:off x="8183880" y="3959352"/>
            <a:ext cx="2834640" cy="0"/>
          </a:xfrm>
          <a:prstGeom prst="line">
            <a:avLst/>
          </a:prstGeom>
          <a:noFill/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8183880" y="40507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Orders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8183880" y="4270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B5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27.38 days</a:t>
            </a:r>
            <a:endParaRPr lang="en-US" sz="1700" dirty="0"/>
          </a:p>
        </p:txBody>
      </p:sp>
      <p:sp>
        <p:nvSpPr>
          <p:cNvPr id="43" name="Text 38"/>
          <p:cNvSpPr/>
          <p:nvPr/>
        </p:nvSpPr>
        <p:spPr>
          <a:xfrm>
            <a:off x="8183880" y="46725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+19.87d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8183880" y="5074920"/>
            <a:ext cx="2834640" cy="347472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8183880" y="5074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BOTTLENECK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Performance &amp; SLA Analysis  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BOTTLENECKS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 of Delays Trace Back to the Carrier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Attribution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201656921"/>
              </p:ext>
            </p:extLst>
          </p:nvPr>
        </p:nvGraphicFramePr>
        <p:xfrm>
          <a:off x="502920" y="1371600"/>
          <a:ext cx="61264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6995160" y="1371600"/>
            <a:ext cx="4709160" cy="109728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995160" y="1371600"/>
            <a:ext cx="64008" cy="109728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196328" y="1463040"/>
            <a:ext cx="434340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90.2%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196328" y="2051914"/>
            <a:ext cx="434340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late orders involve a shipping/carrier delay — the dominant root cause by far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95160" y="2606040"/>
            <a:ext cx="4709160" cy="128016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223760" y="27432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Note on attribution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23760" y="30175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don't sum to 100% — a single late order can have delays across multiple stages simultaneously. Processing (21.0%) and seller fulfillment (20.2%) show secondary, overlapping effects.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95160" y="4023360"/>
            <a:ext cx="4709160" cy="1600200"/>
          </a:xfrm>
          <a:prstGeom prst="rect">
            <a:avLst/>
          </a:prstGeom>
          <a:solidFill>
            <a:srgbClr val="3D2A4A"/>
          </a:solidFill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995160" y="4023360"/>
            <a:ext cx="64008" cy="160020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223760" y="413308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B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223760" y="4407408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seller preparation or order processing — it's logistics infrastructure for long-distance carrier routes, particularly to northern Brazil. Fixing carrier performance is the single highest-leverage lever available.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Performance &amp; SLA Analysis  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BOTTLENECKS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From São Paulo Drives Shipping Time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Shipping Time by State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095882330"/>
              </p:ext>
            </p:extLst>
          </p:nvPr>
        </p:nvGraphicFramePr>
        <p:xfrm>
          <a:off x="502920" y="1280160"/>
          <a:ext cx="87782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9555480" y="1280160"/>
            <a:ext cx="2148840" cy="128016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555480" y="1280160"/>
            <a:ext cx="64008" cy="128016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756648" y="1371600"/>
            <a:ext cx="178308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756648" y="2073859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avg. shipping — Roraima (RR), the slowest state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555480" y="2651760"/>
            <a:ext cx="2148840" cy="128016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555480" y="2651760"/>
            <a:ext cx="64008" cy="1280160"/>
          </a:xfrm>
          <a:prstGeom prst="rect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756648" y="2743200"/>
            <a:ext cx="178308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756648" y="3445459"/>
            <a:ext cx="17830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avg. shipping — São Paulo (SP), home of most sellers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5532120"/>
            <a:ext cx="11201400" cy="777240"/>
          </a:xfrm>
          <a:prstGeom prst="rect">
            <a:avLst/>
          </a:prstGeom>
          <a:solidFill>
            <a:srgbClr val="3D2A4A"/>
          </a:solidFill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02920" y="5532120"/>
            <a:ext cx="64008" cy="77724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5641848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B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ROOT CAUSE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5916168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RR, AP, AM, AL, and PA average 19–25 days of shipping time — 4–5x slower than SP's 5.1 days. The problem isn't carriers in general; it's the long-distance logistics gap to remote northern states.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Performance &amp; SLA Analysis  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Delays Don't Just Cost Time — They Cost Trust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Score: On-Time vs Late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371600"/>
          <a:ext cx="52120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371600"/>
            <a:ext cx="5669280" cy="141732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309360" y="1536192"/>
            <a:ext cx="502920" cy="502920"/>
          </a:xfrm>
          <a:prstGeom prst="ellipse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build/icons/sm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061" y="1656893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508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D9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4.29 / 5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6949440" y="1965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Orders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949440" y="2240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89,443 reviews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869680" y="1481328"/>
            <a:ext cx="0" cy="1188720"/>
          </a:xfrm>
          <a:prstGeom prst="line">
            <a:avLst/>
          </a:prstGeom>
          <a:noFill/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189720" y="1536192"/>
            <a:ext cx="502920" cy="502920"/>
          </a:xfrm>
          <a:prstGeom prst="ellipse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/home/claude/build/icons/frow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0421" y="1656893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29800" y="1508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B5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2.27 / 5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9829800" y="1965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Orders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829800" y="2240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6,381 reviews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035040" y="2971800"/>
            <a:ext cx="5669280" cy="86868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035040" y="2971800"/>
            <a:ext cx="64008" cy="86868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236208" y="3063240"/>
            <a:ext cx="530352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−47%</a:t>
            </a:r>
            <a:endParaRPr lang="en-US" sz="2700" dirty="0"/>
          </a:p>
        </p:txBody>
      </p:sp>
      <p:sp>
        <p:nvSpPr>
          <p:cNvPr id="22" name="Text 17"/>
          <p:cNvSpPr/>
          <p:nvPr/>
        </p:nvSpPr>
        <p:spPr>
          <a:xfrm>
            <a:off x="6236208" y="3510382"/>
            <a:ext cx="530352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customer satisfaction caused directly by late delivery (4.29 → 2.27)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035040" y="3977640"/>
            <a:ext cx="5669280" cy="1645920"/>
          </a:xfrm>
          <a:prstGeom prst="rect">
            <a:avLst/>
          </a:prstGeom>
          <a:solidFill>
            <a:srgbClr val="3D2A4A"/>
          </a:solidFill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035040" y="3977640"/>
            <a:ext cx="64008" cy="164592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263640" y="40873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B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263640" y="436168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minor inconvenience — it's a strategic business threat. Sample sizes are statistically robust (89,443 vs 6,381 reviews). Every 1% reduction in the late delivery rate protects approximately 965 customers from a poor experience and the churn risk that follows.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Performance &amp; SLA Analysis  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Findings That Define the SLA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Summary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486400" cy="1481328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4008" cy="1481328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5389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B5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6.77%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0" y="14538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are delivered late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011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6,534 customers at risk of churn per period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5486400" cy="1481328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64008" cy="1481328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145389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B5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001000" y="14538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delays originate in carrier shipping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1000" y="2011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infrastructure is the core problem — not sellers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44368"/>
            <a:ext cx="5486400" cy="1481328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2944368"/>
            <a:ext cx="64008" cy="1481328"/>
          </a:xfrm>
          <a:prstGeom prst="rect">
            <a:avLst/>
          </a:prstGeom>
          <a:solidFill>
            <a:srgbClr val="F0A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072384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A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286000" y="30723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 in Northern states (AL, MA, SE)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6301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inequality is damaging brand trust in key markets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944368"/>
            <a:ext cx="5486400" cy="1481328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2944368"/>
            <a:ext cx="64008" cy="1481328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46520" y="3072384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B5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−47%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001000" y="30723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drop on late orders (4.29 → 2.27)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01000" y="36301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Threatens repeat purchase rates and platform reputation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562856"/>
            <a:ext cx="5486400" cy="1481328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" y="4562856"/>
            <a:ext cx="64008" cy="1481328"/>
          </a:xfrm>
          <a:prstGeom prst="rect">
            <a:avLst/>
          </a:prstGeom>
          <a:solidFill>
            <a:srgbClr val="F0A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469087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A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5.51%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286000" y="46908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late orders are severe (&gt;1 month delay)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286000" y="524865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SLA breaches carry high refund/complaint risk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562856"/>
            <a:ext cx="5486400" cy="1481328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17920" y="4562856"/>
            <a:ext cx="64008" cy="1481328"/>
          </a:xfrm>
          <a:prstGeom prst="rect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46520" y="469087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ED9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001000" y="46908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 for top-tier sellers (most reliable)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01000" y="524865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development programs can lift overall SLA performance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Performance &amp; SLA Analysis  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Strategic Actions to Close the SLA Gap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486400" cy="224028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502920" cy="502920"/>
          </a:xfrm>
          <a:prstGeom prst="rect">
            <a:avLst/>
          </a:prstGeom>
          <a:solidFill>
            <a:srgbClr val="EB5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44168" y="15087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Northern Logistics Infrastructure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AL, MA, SE, PI, and CE show late rates above 13.8%. Establish regional distribution centers or partner with local carriers to cut shipping time from 20+ days to under 10.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77240" y="3127248"/>
            <a:ext cx="4937760" cy="0"/>
          </a:xfrm>
          <a:prstGeom prst="line">
            <a:avLst/>
          </a:prstGeom>
          <a:noFill/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i="1" dirty="0">
                <a:solidFill>
                  <a:srgbClr val="EB5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40–60% reduction in late deliveries for these states.</a:t>
            </a:r>
            <a:endParaRPr lang="en-US" sz="1030" b="1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5486400" cy="224028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19088" y="1527048"/>
            <a:ext cx="502920" cy="502920"/>
          </a:xfrm>
          <a:prstGeom prst="rect">
            <a:avLst/>
          </a:prstGeom>
          <a:solidFill>
            <a:srgbClr val="F0A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59168" y="15087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Estimated Delivery Dates for Remote Areas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21945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estimates for northern/northeastern states are unrealistic, setting expectations the carrier consistently fails to meet.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92240" y="3127248"/>
            <a:ext cx="4937760" cy="0"/>
          </a:xfrm>
          <a:prstGeom prst="line">
            <a:avLst/>
          </a:prstGeom>
          <a:noFill/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3200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i="1" dirty="0">
                <a:solidFill>
                  <a:srgbClr val="F0A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measured SLA and customer experience via accurate expectations.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5486400" cy="224028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4088" y="3950208"/>
            <a:ext cx="502920" cy="502920"/>
          </a:xfrm>
          <a:prstGeom prst="rect">
            <a:avLst/>
          </a:prstGeom>
          <a:solidFill>
            <a:srgbClr val="8B85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4088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44168" y="393192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Performance Audit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4617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90.2% of delays are carrier-driven, identify which specific carriers underperform on the worst routes.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777240" y="5550408"/>
            <a:ext cx="4937760" cy="0"/>
          </a:xfrm>
          <a:prstGeom prst="line">
            <a:avLst/>
          </a:prstGeom>
          <a:noFill/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56235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i="1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carrier SLA penalties; consider competitive bidding.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6217920" y="3749040"/>
            <a:ext cx="5486400" cy="2240280"/>
          </a:xfrm>
          <a:prstGeom prst="rect">
            <a:avLst/>
          </a:prstGeom>
          <a:solidFill>
            <a:srgbClr val="352F6E"/>
          </a:solidFill>
          <a:ln w="12700">
            <a:solidFill>
              <a:srgbClr val="352F6E"/>
            </a:solidFill>
            <a:prstDash val="solid"/>
          </a:ln>
          <a:effectLst>
            <a:outerShdw blurRad="88900" dist="25400" dir="5400000" algn="bl" rotWithShape="0">
              <a:srgbClr val="2C266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19088" y="3950208"/>
            <a:ext cx="502920" cy="502920"/>
          </a:xfrm>
          <a:prstGeom prst="rect">
            <a:avLst/>
          </a:prstGeom>
          <a:solidFill>
            <a:srgbClr val="5E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19088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059168" y="393192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Development for Small Sellers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92240" y="4617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sellers (&lt;200 orders) show late rates up to 19%. Fulfillment speed on late orders lags by 3.11 days vs. on-time.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492240" y="5550408"/>
            <a:ext cx="4937760" cy="0"/>
          </a:xfrm>
          <a:prstGeom prst="line">
            <a:avLst/>
          </a:prstGeom>
          <a:noFill/>
          <a:ln w="12700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92240" y="56235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i="1" dirty="0">
                <a:solidFill>
                  <a:srgbClr val="5E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program targeting fast fulfillment as a secondary lever.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Performance &amp; SLA Analysis 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Indicator Definitions &amp; 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1201400" cy="41148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8183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/ Calculation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11201400" cy="448056"/>
          </a:xfrm>
          <a:prstGeom prst="rect">
            <a:avLst/>
          </a:prstGeom>
          <a:solidFill>
            <a:srgbClr val="241F52"/>
          </a:solidFill>
          <a:ln w="9525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Order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474720" y="1600200"/>
            <a:ext cx="8092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delivery date exceeds the estimated delivery date set at purchase.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02920" y="2048256"/>
            <a:ext cx="11201400" cy="448056"/>
          </a:xfrm>
          <a:prstGeom prst="rect">
            <a:avLst/>
          </a:prstGeom>
          <a:solidFill>
            <a:srgbClr val="352F6E"/>
          </a:solidFill>
          <a:ln w="9525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048256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/ Late Delivery Rate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474720" y="2048256"/>
            <a:ext cx="8092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(On-Time or Late Orders ÷ Total Delivered Orders) × 100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02920" y="2496312"/>
            <a:ext cx="11201400" cy="448056"/>
          </a:xfrm>
          <a:prstGeom prst="rect">
            <a:avLst/>
          </a:prstGeom>
          <a:solidFill>
            <a:srgbClr val="241F52"/>
          </a:solidFill>
          <a:ln w="9525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496312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Delay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474720" y="2496312"/>
            <a:ext cx="8092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days by which late orders exceed the estimate, calculated per delay category to handle high variance.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02920" y="2944368"/>
            <a:ext cx="11201400" cy="448056"/>
          </a:xfrm>
          <a:prstGeom prst="rect">
            <a:avLst/>
          </a:prstGeom>
          <a:solidFill>
            <a:srgbClr val="352F6E"/>
          </a:solidFill>
          <a:ln w="9525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944368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Delay Rate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3474720" y="2944368"/>
            <a:ext cx="8092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late orders delayed &gt; 30 days — the standard SLA breach threshold.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02920" y="3392424"/>
            <a:ext cx="11201400" cy="448056"/>
          </a:xfrm>
          <a:prstGeom prst="rect">
            <a:avLst/>
          </a:prstGeom>
          <a:solidFill>
            <a:srgbClr val="241F52"/>
          </a:solidFill>
          <a:ln w="9525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392424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3474720" y="3392424"/>
            <a:ext cx="8092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order_approved_at − order_purchase_timestamp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02920" y="3840480"/>
            <a:ext cx="11201400" cy="448056"/>
          </a:xfrm>
          <a:prstGeom prst="rect">
            <a:avLst/>
          </a:prstGeom>
          <a:solidFill>
            <a:srgbClr val="352F6E"/>
          </a:solidFill>
          <a:ln w="9525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840480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Fulfillment Time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3474720" y="3840480"/>
            <a:ext cx="8092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order_delivered_carrier_date − order_approved_at  (negative = seller shipped early)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02920" y="4288536"/>
            <a:ext cx="11201400" cy="448056"/>
          </a:xfrm>
          <a:prstGeom prst="rect">
            <a:avLst/>
          </a:prstGeom>
          <a:solidFill>
            <a:srgbClr val="241F52"/>
          </a:solidFill>
          <a:ln w="9525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288536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Time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3474720" y="4288536"/>
            <a:ext cx="8092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order_delivered_customer_date − order_delivered_carrier_date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502920" y="4736592"/>
            <a:ext cx="11201400" cy="448056"/>
          </a:xfrm>
          <a:prstGeom prst="rect">
            <a:avLst/>
          </a:prstGeom>
          <a:solidFill>
            <a:srgbClr val="352F6E"/>
          </a:solidFill>
          <a:ln w="9525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4736592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3474720" y="4736592"/>
            <a:ext cx="8092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customer rating post-delivery, averaged by delivery status.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502920" y="5184648"/>
            <a:ext cx="11201400" cy="448056"/>
          </a:xfrm>
          <a:prstGeom prst="rect">
            <a:avLst/>
          </a:prstGeom>
          <a:solidFill>
            <a:srgbClr val="241F52"/>
          </a:solidFill>
          <a:ln w="9525">
            <a:solidFill>
              <a:srgbClr val="35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5184648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 by State/City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3474720" y="5184648"/>
            <a:ext cx="8092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D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 Orders in Region ÷ Total Delivered in Region) × 100, min. order threshold applied.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502920" y="5724144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i="1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= formal commitment that an order will be delivered on/before the estimated date. No explicit contractual SLA exists in the public dataset; the estimated delivery date is used as the SLA benchmark.  |  Data: Olist Brazilian E-Commerce Public Dataset (Kaggle), Jan 2017–Aug 2018. Tools: Python (pandas, NumPy, Matplotlib, Seaborn).</a:t>
            </a:r>
            <a:endParaRPr lang="en-US" sz="900" b="1" dirty="0"/>
          </a:p>
        </p:txBody>
      </p:sp>
      <p:sp>
        <p:nvSpPr>
          <p:cNvPr id="37" name="Text 35"/>
          <p:cNvSpPr/>
          <p:nvPr/>
        </p:nvSpPr>
        <p:spPr>
          <a:xfrm>
            <a:off x="50292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Delivery Performance &amp; SLA Analysis  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31575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A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65760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253728" y="365760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37776" y="365760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21824" y="365760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05872" y="365760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89920" y="365760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173968" y="365760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869680" y="749808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253728" y="749808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37776" y="749808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21824" y="749808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405872" y="749808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789920" y="749808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173968" y="749808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869680" y="1133856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253728" y="1133856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637776" y="1133856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021824" y="1133856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405872" y="1133856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789920" y="1133856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173968" y="1133856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69680" y="1517904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253728" y="1517904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37776" y="1517904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21824" y="1517904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405872" y="1517904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789920" y="1517904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1173968" y="1517904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869680" y="1901952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253728" y="1901952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637776" y="1901952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021824" y="1901952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405872" y="1901952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789920" y="1901952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173968" y="1901952"/>
            <a:ext cx="274320" cy="274320"/>
          </a:xfrm>
          <a:prstGeom prst="rect">
            <a:avLst/>
          </a:prstGeom>
          <a:solidFill>
            <a:srgbClr val="2C2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1828799"/>
            <a:ext cx="8844742" cy="187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38" name="Text 36"/>
          <p:cNvSpPr/>
          <p:nvPr/>
        </p:nvSpPr>
        <p:spPr>
          <a:xfrm>
            <a:off x="566928" y="2697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0" y="3703320"/>
            <a:ext cx="12191695" cy="16459"/>
          </a:xfrm>
          <a:prstGeom prst="rect">
            <a:avLst/>
          </a:prstGeom>
          <a:solidFill>
            <a:srgbClr val="F0A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4023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Olist Brazilian E-Commerce Public Dataset (Kaggle)  |  Analysis Period: Jan 2017 – Aug 2018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43708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performed using Python, Pandas, NumPy, Matplotlib, and Seaborn.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66928" y="4892954"/>
            <a:ext cx="5402283" cy="1241755"/>
          </a:xfrm>
          <a:prstGeom prst="rect">
            <a:avLst/>
          </a:prstGeom>
          <a:solidFill>
            <a:srgbClr val="241F52"/>
          </a:solidFill>
          <a:ln w="12700">
            <a:solidFill>
              <a:srgbClr val="F2A0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954836" y="5163105"/>
            <a:ext cx="610400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00" b="1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0D0264D-7D94-4D84-310F-419F71222993}"/>
              </a:ext>
            </a:extLst>
          </p:cNvPr>
          <p:cNvCxnSpPr>
            <a:cxnSpLocks/>
          </p:cNvCxnSpPr>
          <p:nvPr/>
        </p:nvCxnSpPr>
        <p:spPr>
          <a:xfrm>
            <a:off x="2665708" y="4927283"/>
            <a:ext cx="0" cy="1207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4885B4D-D5BD-8F43-B758-02DCB49F7F51}"/>
              </a:ext>
            </a:extLst>
          </p:cNvPr>
          <p:cNvSpPr txBox="1"/>
          <p:nvPr/>
        </p:nvSpPr>
        <p:spPr>
          <a:xfrm>
            <a:off x="566929" y="5147689"/>
            <a:ext cx="1945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Mohamed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14161E-792C-3D89-CAAB-F7362F0526DA}"/>
              </a:ext>
            </a:extLst>
          </p:cNvPr>
          <p:cNvSpPr txBox="1"/>
          <p:nvPr/>
        </p:nvSpPr>
        <p:spPr>
          <a:xfrm>
            <a:off x="2665707" y="4892954"/>
            <a:ext cx="323652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Supervised by</a:t>
            </a:r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r>
              <a:rPr lang="en-US" b="1" dirty="0">
                <a:solidFill>
                  <a:schemeClr val="bg1"/>
                </a:solidFill>
              </a:rPr>
              <a:t> 	Mariam Metawe’e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Mentor</a:t>
            </a:r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r>
              <a:rPr lang="en-US" b="1" dirty="0">
                <a:solidFill>
                  <a:schemeClr val="bg1"/>
                </a:solidFill>
              </a:rPr>
              <a:t> 	Abdulrahman Samhan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2007</Words>
  <Application>Microsoft Office PowerPoint</Application>
  <PresentationFormat>Widescreen</PresentationFormat>
  <Paragraphs>300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Delivery Performance &amp; SLA Analysis</dc:title>
  <dc:subject>PptxGenJS Presentation</dc:subject>
  <dc:creator>Data Analysis Team</dc:creator>
  <cp:lastModifiedBy>youssef kamel</cp:lastModifiedBy>
  <cp:revision>5</cp:revision>
  <dcterms:created xsi:type="dcterms:W3CDTF">2026-06-28T13:08:07Z</dcterms:created>
  <dcterms:modified xsi:type="dcterms:W3CDTF">2026-06-29T07:55:42Z</dcterms:modified>
</cp:coreProperties>
</file>